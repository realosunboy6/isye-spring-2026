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CC"/>
    <a:srgbClr val="808000"/>
    <a:srgbClr val="FF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79" autoAdjust="0"/>
  </p:normalViewPr>
  <p:slideViewPr>
    <p:cSldViewPr>
      <p:cViewPr varScale="1">
        <p:scale>
          <a:sx n="129" d="100"/>
          <a:sy n="129" d="100"/>
        </p:scale>
        <p:origin x="490" y="6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DF50915-C1A7-4D31-8C2B-4DE32F76A28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0DB187-AFAB-49AB-A57F-A45F554C2F7D}" type="slidenum">
              <a:rPr lang="en-US"/>
              <a:pPr/>
              <a:t>2</a:t>
            </a:fld>
            <a:endParaRPr 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different formulations of cement mortar. The engineer already realized there was a reduction of the cure time for the modified formulation. Therefore he starts focusing on the strength. We have 10 different samples of both formulation: modified and unmodified. The presence of fluctuations or noise or statistical error means the response variable “strength” is a random variable.</a:t>
            </a:r>
          </a:p>
        </p:txBody>
      </p:sp>
    </p:spTree>
    <p:extLst>
      <p:ext uri="{BB962C8B-B14F-4D97-AF65-F5344CB8AC3E}">
        <p14:creationId xmlns:p14="http://schemas.microsoft.com/office/powerpoint/2010/main" val="56128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8445E-7302-47AB-8F29-D67BD367AFC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95" y="5201093"/>
            <a:ext cx="538627" cy="9394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D6D3B1-6875-4457-8B50-86F3518BEB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9A1F6-5E7F-4705-8C94-B9C704C7DC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71D19-ED00-48C1-A6B0-1C04DC1A17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DF9C9-C7EE-4706-8944-8389476B91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8AD0F-F9B0-4CCF-81F1-FF7910D9E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3C2E0-64E9-4821-ACC1-ADA5A13137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29B97F-2D42-42F1-921D-96AE01F952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057BA-2D4C-44CF-862F-8AB860D1B43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22826-8F07-4C46-90B7-7F5CCA77D4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DCD23-6B2D-466C-ABEA-3CB995ADD8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77EB0510-B5E9-48BD-9046-EF94B22E2C1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1815615-423B-4050-89E0-3777883918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5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8A369DD9-1FFE-4B92-911C-F360647597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2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183C23-DD81-4E15-BFBA-2990194C5CA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7.jpeg"/><Relationship Id="rId4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5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7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B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0" y="990600"/>
            <a:ext cx="7315200" cy="2590800"/>
          </a:xfrm>
        </p:spPr>
        <p:txBody>
          <a:bodyPr/>
          <a:lstStyle/>
          <a:p>
            <a:r>
              <a:rPr lang="en-US" sz="5400" b="1" dirty="0"/>
              <a:t>Experimental Design For Engineers</a:t>
            </a:r>
            <a:r>
              <a:rPr lang="en-US" dirty="0"/>
              <a:t> 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US" sz="3600" b="1" dirty="0" smtClean="0"/>
              <a:t>ISYE435-535</a:t>
            </a:r>
            <a:endParaRPr 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Portland Cement Formulation</a:t>
            </a:r>
          </a:p>
        </p:txBody>
      </p:sp>
      <p:pic>
        <p:nvPicPr>
          <p:cNvPr id="532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276600" y="1676400"/>
            <a:ext cx="6172200" cy="489585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28551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/>
              <a:t>Data Description</a:t>
            </a:r>
            <a:endParaRPr lang="en-US" sz="7200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772400" cy="2057400"/>
          </a:xfrm>
        </p:spPr>
        <p:txBody>
          <a:bodyPr/>
          <a:lstStyle/>
          <a:p>
            <a:r>
              <a:rPr lang="en-US" sz="4000"/>
              <a:t>Box plot</a:t>
            </a:r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2251076"/>
            <a:ext cx="6096000" cy="450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7765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/>
              <a:t>Data Description (Cont.)</a:t>
            </a:r>
            <a:endParaRPr lang="en-US" sz="720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772400" cy="2057400"/>
          </a:xfrm>
        </p:spPr>
        <p:txBody>
          <a:bodyPr/>
          <a:lstStyle/>
          <a:p>
            <a:r>
              <a:rPr lang="en-US" sz="4000"/>
              <a:t>Anatomy of a boxplot</a:t>
            </a:r>
          </a:p>
        </p:txBody>
      </p:sp>
      <p:pic>
        <p:nvPicPr>
          <p:cNvPr id="119814" name="Picture 6"/>
          <p:cNvPicPr>
            <a:picLocks noChangeAspect="1" noChangeArrowheads="1"/>
          </p:cNvPicPr>
          <p:nvPr/>
        </p:nvPicPr>
        <p:blipFill>
          <a:blip r:embed="rId2" cstate="print"/>
          <a:srcRect l="15649" r="1495" b="16763"/>
          <a:stretch>
            <a:fillRect/>
          </a:stretch>
        </p:blipFill>
        <p:spPr bwMode="auto">
          <a:xfrm>
            <a:off x="2590800" y="2286001"/>
            <a:ext cx="7467600" cy="447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7487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/>
              <a:t>Data Description (Cont.)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7772400" cy="4495800"/>
          </a:xfrm>
        </p:spPr>
        <p:txBody>
          <a:bodyPr/>
          <a:lstStyle/>
          <a:p>
            <a:pPr>
              <a:buFontTx/>
              <a:buNone/>
            </a:pPr>
            <a:r>
              <a:rPr lang="en-US" sz="4400" b="1"/>
              <a:t>Other techniques</a:t>
            </a:r>
          </a:p>
          <a:p>
            <a:r>
              <a:rPr lang="en-US" sz="4000"/>
              <a:t>Normal Probability Plot</a:t>
            </a:r>
          </a:p>
          <a:p>
            <a:r>
              <a:rPr lang="en-US" sz="4000"/>
              <a:t>Histograms</a:t>
            </a:r>
          </a:p>
          <a:p>
            <a:r>
              <a:rPr lang="en-US" sz="4000" i="1"/>
              <a:t>IQR/s</a:t>
            </a:r>
            <a:r>
              <a:rPr lang="en-US" sz="4000"/>
              <a:t> ratio</a:t>
            </a:r>
          </a:p>
          <a:p>
            <a:pPr lvl="1"/>
            <a:r>
              <a:rPr lang="en-US" sz="3600"/>
              <a:t>If this ratio </a:t>
            </a:r>
            <a:r>
              <a:rPr lang="en-US" sz="3600">
                <a:cs typeface="Times New Roman" pitchFamily="18" charset="0"/>
              </a:rPr>
              <a:t>~ 1.3 data might come from a normal distribution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6024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/>
              <a:t>Probability Distributions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0356" name="Picture 4" descr="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4014" y="2362201"/>
            <a:ext cx="8891587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8378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/>
              <a:t>Probability Distributions (Cont.)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Properties</a:t>
            </a:r>
          </a:p>
        </p:txBody>
      </p:sp>
      <p:pic>
        <p:nvPicPr>
          <p:cNvPr id="10138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2667000"/>
            <a:ext cx="6858000" cy="396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1308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/>
              <a:t>Mean and Variances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0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981201"/>
            <a:ext cx="662940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0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114801"/>
            <a:ext cx="6629400" cy="214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315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0" name="Rectangle 6"/>
          <p:cNvSpPr>
            <a:spLocks noChangeArrowheads="1"/>
          </p:cNvSpPr>
          <p:nvPr/>
        </p:nvSpPr>
        <p:spPr bwMode="auto">
          <a:xfrm>
            <a:off x="1981200" y="2027238"/>
            <a:ext cx="80010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>
                <a:solidFill>
                  <a:schemeClr val="accent2"/>
                </a:solidFill>
              </a:rPr>
              <a:t>Sample Mean</a:t>
            </a:r>
            <a:r>
              <a:rPr lang="en-US">
                <a:solidFill>
                  <a:schemeClr val="accent2"/>
                </a:solidFill>
              </a:rPr>
              <a:t>: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>
              <a:solidFill>
                <a:schemeClr val="accent2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>
                <a:solidFill>
                  <a:schemeClr val="accent2"/>
                </a:solidFill>
              </a:rPr>
              <a:t>Sample Variance</a:t>
            </a:r>
            <a:r>
              <a:rPr lang="en-US">
                <a:solidFill>
                  <a:schemeClr val="accent2"/>
                </a:solidFill>
              </a:rPr>
              <a:t>: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en-US" b="1">
              <a:solidFill>
                <a:schemeClr val="accent2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b="1">
                <a:solidFill>
                  <a:schemeClr val="accent2"/>
                </a:solidFill>
              </a:rPr>
              <a:t>Sample standard deviation</a:t>
            </a:r>
            <a:r>
              <a:rPr lang="en-US"/>
              <a:t> is the square root of the sample variance.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/>
              <a:t>These statistics–or estimators–are unbiased (                  ) and with minimum variance.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sz="1800"/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Sampling and Sampling Distributions</a:t>
            </a:r>
          </a:p>
        </p:txBody>
      </p:sp>
      <p:graphicFrame>
        <p:nvGraphicFramePr>
          <p:cNvPr id="103431" name="Object 7"/>
          <p:cNvGraphicFramePr>
            <a:graphicFrameLocks noChangeAspect="1"/>
          </p:cNvGraphicFramePr>
          <p:nvPr/>
        </p:nvGraphicFramePr>
        <p:xfrm>
          <a:off x="4495800" y="1828801"/>
          <a:ext cx="13716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Equation" r:id="rId3" imgW="799920" imgH="431640" progId="">
                  <p:embed/>
                </p:oleObj>
              </mc:Choice>
              <mc:Fallback>
                <p:oleObj name="Equation" r:id="rId3" imgW="799920" imgH="431640" progId="">
                  <p:embed/>
                  <p:pic>
                    <p:nvPicPr>
                      <p:cNvPr id="10343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828801"/>
                        <a:ext cx="1371600" cy="741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2" name="Object 8"/>
          <p:cNvGraphicFramePr>
            <a:graphicFrameLocks noChangeAspect="1"/>
          </p:cNvGraphicFramePr>
          <p:nvPr/>
        </p:nvGraphicFramePr>
        <p:xfrm>
          <a:off x="4800600" y="2570164"/>
          <a:ext cx="480060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Equation" r:id="rId5" imgW="2806560" imgH="457200" progId="">
                  <p:embed/>
                </p:oleObj>
              </mc:Choice>
              <mc:Fallback>
                <p:oleObj name="Equation" r:id="rId5" imgW="2806560" imgH="457200" progId="">
                  <p:embed/>
                  <p:pic>
                    <p:nvPicPr>
                      <p:cNvPr id="1034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570164"/>
                        <a:ext cx="4800600" cy="782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5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7848600" y="4495800"/>
          <a:ext cx="1447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Equation" r:id="rId7" imgW="571320" imgH="190440" progId="Equation.3">
                  <p:embed/>
                </p:oleObj>
              </mc:Choice>
              <mc:Fallback>
                <p:oleObj name="Equation" r:id="rId7" imgW="571320" imgH="190440" progId="Equation.3">
                  <p:embed/>
                  <p:pic>
                    <p:nvPicPr>
                      <p:cNvPr id="1034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495800"/>
                        <a:ext cx="1447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966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600" b="1"/>
              <a:t>Sampling Distributions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/>
              <a:t>Normal distribution N(</a:t>
            </a:r>
            <a:r>
              <a:rPr lang="en-US" sz="4000" i="1">
                <a:sym typeface="Symbol" pitchFamily="18" charset="2"/>
              </a:rPr>
              <a:t></a:t>
            </a:r>
            <a:r>
              <a:rPr lang="en-US" sz="4000">
                <a:sym typeface="Symbol" pitchFamily="18" charset="2"/>
              </a:rPr>
              <a:t>,</a:t>
            </a:r>
            <a:r>
              <a:rPr lang="en-US" sz="4000" i="1">
                <a:sym typeface="Symbol" pitchFamily="18" charset="2"/>
              </a:rPr>
              <a:t></a:t>
            </a:r>
            <a:r>
              <a:rPr lang="en-US" sz="4000" baseline="30000">
                <a:sym typeface="Symbol" pitchFamily="18" charset="2"/>
              </a:rPr>
              <a:t>2</a:t>
            </a:r>
            <a:r>
              <a:rPr lang="en-US" sz="4000">
                <a:sym typeface="Symbol" pitchFamily="18" charset="2"/>
              </a:rPr>
              <a:t>)</a:t>
            </a:r>
          </a:p>
        </p:txBody>
      </p:sp>
      <p:grpSp>
        <p:nvGrpSpPr>
          <p:cNvPr id="105479" name="Group 7"/>
          <p:cNvGrpSpPr>
            <a:grpSpLocks/>
          </p:cNvGrpSpPr>
          <p:nvPr/>
        </p:nvGrpSpPr>
        <p:grpSpPr bwMode="auto">
          <a:xfrm>
            <a:off x="3048001" y="2803526"/>
            <a:ext cx="6570663" cy="3902075"/>
            <a:chOff x="960" y="1766"/>
            <a:chExt cx="4139" cy="2458"/>
          </a:xfrm>
        </p:grpSpPr>
        <p:pic>
          <p:nvPicPr>
            <p:cNvPr id="105476" name="Picture 4" descr="Fi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0" y="1776"/>
              <a:ext cx="4128" cy="2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5477" name="Text Box 5"/>
            <p:cNvSpPr txBox="1">
              <a:spLocks noChangeArrowheads="1"/>
            </p:cNvSpPr>
            <p:nvPr/>
          </p:nvSpPr>
          <p:spPr bwMode="auto">
            <a:xfrm>
              <a:off x="2688" y="1766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 i="1"/>
                <a:t>f</a:t>
              </a:r>
              <a:r>
                <a:rPr lang="en-US" sz="2000" b="1"/>
                <a:t>(</a:t>
              </a:r>
              <a:r>
                <a:rPr lang="en-US" sz="2000" b="1" i="1"/>
                <a:t>x</a:t>
              </a:r>
              <a:r>
                <a:rPr lang="en-US" sz="2000" b="1"/>
                <a:t>)</a:t>
              </a:r>
            </a:p>
          </p:txBody>
        </p:sp>
        <p:sp>
          <p:nvSpPr>
            <p:cNvPr id="105478" name="Text Box 6"/>
            <p:cNvSpPr txBox="1">
              <a:spLocks noChangeArrowheads="1"/>
            </p:cNvSpPr>
            <p:nvPr/>
          </p:nvSpPr>
          <p:spPr bwMode="auto">
            <a:xfrm>
              <a:off x="4887" y="393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486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/>
              <a:t>Chi-square or </a:t>
            </a:r>
            <a:r>
              <a:rPr lang="en-US" sz="3600">
                <a:sym typeface="Symbol" pitchFamily="18" charset="2"/>
              </a:rPr>
              <a:t></a:t>
            </a:r>
            <a:r>
              <a:rPr lang="en-US" sz="3600" baseline="30000">
                <a:sym typeface="Symbol" pitchFamily="18" charset="2"/>
              </a:rPr>
              <a:t>2 </a:t>
            </a:r>
            <a:r>
              <a:rPr lang="en-US" sz="3600">
                <a:sym typeface="Symbol" pitchFamily="18" charset="2"/>
              </a:rPr>
              <a:t>distributions</a:t>
            </a:r>
          </a:p>
          <a:p>
            <a:pPr lvl="1"/>
            <a:r>
              <a:rPr lang="en-US" sz="3200">
                <a:sym typeface="Symbol" pitchFamily="18" charset="2"/>
              </a:rPr>
              <a:t>i.e., sum of </a:t>
            </a:r>
            <a:r>
              <a:rPr lang="en-US" sz="3200" i="1">
                <a:sym typeface="Symbol" pitchFamily="18" charset="2"/>
              </a:rPr>
              <a:t>k</a:t>
            </a:r>
            <a:r>
              <a:rPr lang="en-US" sz="3200">
                <a:sym typeface="Symbol" pitchFamily="18" charset="2"/>
              </a:rPr>
              <a:t> variables </a:t>
            </a:r>
            <a:r>
              <a:rPr lang="en-US" sz="3200" i="1">
                <a:sym typeface="Symbol" pitchFamily="18" charset="2"/>
              </a:rPr>
              <a:t>z </a:t>
            </a:r>
            <a:r>
              <a:rPr lang="en-US" sz="3200">
                <a:cs typeface="Times New Roman" pitchFamily="18" charset="0"/>
                <a:sym typeface="Symbol" pitchFamily="18" charset="2"/>
              </a:rPr>
              <a:t>~ NID(0,1)</a:t>
            </a:r>
          </a:p>
        </p:txBody>
      </p:sp>
      <p:pic>
        <p:nvPicPr>
          <p:cNvPr id="107525" name="Picture 5" descr="F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38513" y="3200401"/>
            <a:ext cx="5181600" cy="342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27" name="Rectangle 7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4600" b="1"/>
              <a:t>Sampling Distributions (cont.)</a:t>
            </a: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2728914" y="3200401"/>
            <a:ext cx="534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/>
              <a:t>f</a:t>
            </a:r>
            <a:r>
              <a:rPr lang="en-US" sz="2000"/>
              <a:t>(</a:t>
            </a:r>
            <a:r>
              <a:rPr lang="en-US" sz="2000" i="1"/>
              <a:t>x</a:t>
            </a:r>
            <a:r>
              <a:rPr lang="en-US" sz="2000"/>
              <a:t>)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8596314" y="6324600"/>
            <a:ext cx="319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i="1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0388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981200"/>
            <a:ext cx="8077200" cy="914400"/>
          </a:xfrm>
        </p:spPr>
        <p:txBody>
          <a:bodyPr/>
          <a:lstStyle/>
          <a:p>
            <a:r>
              <a:rPr lang="en-US" sz="3600" i="1"/>
              <a:t>t</a:t>
            </a:r>
            <a:r>
              <a:rPr lang="en-US" sz="3600"/>
              <a:t>-distribution with </a:t>
            </a:r>
            <a:r>
              <a:rPr lang="en-US" sz="3600" i="1"/>
              <a:t>k</a:t>
            </a:r>
            <a:r>
              <a:rPr lang="en-US" sz="3600"/>
              <a:t> degree of freedom</a:t>
            </a:r>
            <a:endParaRPr lang="en-US" sz="3600">
              <a:cs typeface="Times New Roman" pitchFamily="18" charset="0"/>
              <a:sym typeface="Symbol" pitchFamily="18" charset="2"/>
            </a:endParaRPr>
          </a:p>
        </p:txBody>
      </p:sp>
      <p:pic>
        <p:nvPicPr>
          <p:cNvPr id="108549" name="Picture 5" descr="Fi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048001"/>
            <a:ext cx="5715000" cy="331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8550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7543800" y="3429001"/>
          <a:ext cx="2971800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Equation" r:id="rId4" imgW="723600" imgH="469800" progId="Equation.3">
                  <p:embed/>
                </p:oleObj>
              </mc:Choice>
              <mc:Fallback>
                <p:oleObj name="Equation" r:id="rId4" imgW="723600" imgH="469800" progId="Equation.3">
                  <p:embed/>
                  <p:pic>
                    <p:nvPicPr>
                      <p:cNvPr id="1085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429001"/>
                        <a:ext cx="2971800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3" name="Rectangle 9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4600" b="1"/>
              <a:t>Sampling Distributions (cont.)</a:t>
            </a:r>
          </a:p>
        </p:txBody>
      </p:sp>
      <p:sp>
        <p:nvSpPr>
          <p:cNvPr id="108554" name="Text Box 10"/>
          <p:cNvSpPr txBox="1">
            <a:spLocks noChangeArrowheads="1"/>
          </p:cNvSpPr>
          <p:nvPr/>
        </p:nvSpPr>
        <p:spPr bwMode="auto">
          <a:xfrm>
            <a:off x="4343401" y="2651126"/>
            <a:ext cx="563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/>
              <a:t>f</a:t>
            </a:r>
            <a:r>
              <a:rPr lang="en-US" sz="2000" b="1"/>
              <a:t>(</a:t>
            </a:r>
            <a:r>
              <a:rPr lang="en-US" sz="2000" b="1" i="1"/>
              <a:t>x</a:t>
            </a:r>
            <a:r>
              <a:rPr lang="en-US" sz="2000" b="1"/>
              <a:t>)</a:t>
            </a:r>
          </a:p>
        </p:txBody>
      </p:sp>
      <p:sp>
        <p:nvSpPr>
          <p:cNvPr id="108555" name="Text Box 11"/>
          <p:cNvSpPr txBox="1">
            <a:spLocks noChangeArrowheads="1"/>
          </p:cNvSpPr>
          <p:nvPr/>
        </p:nvSpPr>
        <p:spPr bwMode="auto">
          <a:xfrm>
            <a:off x="7315200" y="60198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i="1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7460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b="1"/>
              <a:t>Sampling Distributions (cont.)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981200"/>
            <a:ext cx="7162800" cy="914400"/>
          </a:xfrm>
        </p:spPr>
        <p:txBody>
          <a:bodyPr/>
          <a:lstStyle/>
          <a:p>
            <a:r>
              <a:rPr lang="en-US" sz="2800" i="1"/>
              <a:t>F </a:t>
            </a:r>
            <a:r>
              <a:rPr lang="en-US" sz="2800"/>
              <a:t>distribution with </a:t>
            </a:r>
            <a:r>
              <a:rPr lang="en-US" sz="2800" i="1"/>
              <a:t>k</a:t>
            </a:r>
            <a:r>
              <a:rPr lang="en-US" sz="2800"/>
              <a:t> degree of freedom</a:t>
            </a:r>
            <a:endParaRPr lang="en-US" sz="2800"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10597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077200" y="3124200"/>
          <a:ext cx="19050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Equation" r:id="rId3" imgW="736560" imgH="469800" progId="Equation.3">
                  <p:embed/>
                </p:oleObj>
              </mc:Choice>
              <mc:Fallback>
                <p:oleObj name="Equation" r:id="rId3" imgW="736560" imgH="469800" progId="Equation.3">
                  <p:embed/>
                  <p:pic>
                    <p:nvPicPr>
                      <p:cNvPr id="1105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3124200"/>
                        <a:ext cx="1905000" cy="1214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0601" name="Picture 9" descr="Fi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62200" y="2667001"/>
            <a:ext cx="5486400" cy="308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0311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The Hypothesis Testing Framework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Statistical hypothesis testing</a:t>
            </a:r>
            <a:r>
              <a:rPr lang="en-US"/>
              <a:t> is a useful framework for many experimental situations</a:t>
            </a:r>
          </a:p>
          <a:p>
            <a:r>
              <a:rPr lang="en-US"/>
              <a:t>We will use a procedure known as the </a:t>
            </a:r>
            <a:r>
              <a:rPr lang="en-US" b="1">
                <a:solidFill>
                  <a:srgbClr val="FF0000"/>
                </a:solidFill>
              </a:rPr>
              <a:t>two-sample </a:t>
            </a:r>
            <a:r>
              <a:rPr lang="en-US" b="1" i="1">
                <a:solidFill>
                  <a:srgbClr val="FF0000"/>
                </a:solidFill>
              </a:rPr>
              <a:t>t</a:t>
            </a:r>
            <a:r>
              <a:rPr lang="en-US" b="1">
                <a:solidFill>
                  <a:srgbClr val="FF0000"/>
                </a:solidFill>
              </a:rPr>
              <a:t>-test</a:t>
            </a:r>
          </a:p>
        </p:txBody>
      </p:sp>
    </p:spTree>
    <p:extLst>
      <p:ext uri="{BB962C8B-B14F-4D97-AF65-F5344CB8AC3E}">
        <p14:creationId xmlns:p14="http://schemas.microsoft.com/office/powerpoint/2010/main" val="66179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1143000"/>
          </a:xfrm>
        </p:spPr>
        <p:txBody>
          <a:bodyPr/>
          <a:lstStyle/>
          <a:p>
            <a:r>
              <a:rPr lang="en-US" sz="4000" b="1"/>
              <a:t>The Hypothesis Testing Framework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09800" y="4876800"/>
            <a:ext cx="7772400" cy="1600200"/>
          </a:xfrm>
        </p:spPr>
        <p:txBody>
          <a:bodyPr/>
          <a:lstStyle/>
          <a:p>
            <a:r>
              <a:rPr lang="en-US"/>
              <a:t>Sampling from a </a:t>
            </a:r>
            <a:r>
              <a:rPr lang="en-US" b="1">
                <a:solidFill>
                  <a:schemeClr val="accent2"/>
                </a:solidFill>
              </a:rPr>
              <a:t>normal</a:t>
            </a:r>
            <a:r>
              <a:rPr lang="en-US"/>
              <a:t> distribution</a:t>
            </a:r>
          </a:p>
          <a:p>
            <a:r>
              <a:rPr lang="en-US"/>
              <a:t>Statistical hypotheses:</a:t>
            </a:r>
          </a:p>
        </p:txBody>
      </p:sp>
      <p:pic>
        <p:nvPicPr>
          <p:cNvPr id="57348" name="Picture 4" descr="fig7"/>
          <p:cNvPicPr>
            <a:picLocks noChangeAspect="1" noChangeArrowheads="1"/>
          </p:cNvPicPr>
          <p:nvPr/>
        </p:nvPicPr>
        <p:blipFill>
          <a:blip r:embed="rId3" cstate="print"/>
          <a:srcRect t="1375" b="11795"/>
          <a:stretch>
            <a:fillRect/>
          </a:stretch>
        </p:blipFill>
        <p:spPr bwMode="auto">
          <a:xfrm>
            <a:off x="1600200" y="1243014"/>
            <a:ext cx="8991600" cy="3633787"/>
          </a:xfrm>
          <a:prstGeom prst="rect">
            <a:avLst/>
          </a:prstGeom>
          <a:noFill/>
        </p:spPr>
      </p:pic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6477000" y="5546726"/>
          <a:ext cx="20574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Equation" r:id="rId4" imgW="761760" imgH="457200" progId="">
                  <p:embed/>
                </p:oleObj>
              </mc:Choice>
              <mc:Fallback>
                <p:oleObj name="Equation" r:id="rId4" imgW="761760" imgH="457200" progId="">
                  <p:embed/>
                  <p:pic>
                    <p:nvPicPr>
                      <p:cNvPr id="57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546726"/>
                        <a:ext cx="2057400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184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/>
              <a:t>Estimation of Parameters</a:t>
            </a: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2057400" y="2065338"/>
          <a:ext cx="8382000" cy="250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2" name="Equation" r:id="rId3" imgW="2971800" imgH="888840" progId="">
                  <p:embed/>
                </p:oleObj>
              </mc:Choice>
              <mc:Fallback>
                <p:oleObj name="Equation" r:id="rId3" imgW="2971800" imgH="888840" progId="">
                  <p:embed/>
                  <p:pic>
                    <p:nvPicPr>
                      <p:cNvPr id="583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65338"/>
                        <a:ext cx="8382000" cy="2506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628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Summary Statistics</a:t>
            </a:r>
          </a:p>
        </p:txBody>
      </p:sp>
      <p:graphicFrame>
        <p:nvGraphicFramePr>
          <p:cNvPr id="59395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3048001" y="3124200"/>
          <a:ext cx="2322513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6" name="Equation" r:id="rId3" imgW="698400" imgH="939600" progId="">
                  <p:embed/>
                </p:oleObj>
              </mc:Choice>
              <mc:Fallback>
                <p:oleObj name="Equation" r:id="rId3" imgW="698400" imgH="939600" progId="">
                  <p:embed/>
                  <p:pic>
                    <p:nvPicPr>
                      <p:cNvPr id="593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3124200"/>
                        <a:ext cx="2322513" cy="312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2743200" y="1660526"/>
            <a:ext cx="3048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/>
              <a:t>Formulation 1</a:t>
            </a:r>
          </a:p>
          <a:p>
            <a:pPr eaLnBrk="0" hangingPunct="0">
              <a:spcBef>
                <a:spcPct val="50000"/>
              </a:spcBef>
            </a:pPr>
            <a:r>
              <a:rPr lang="en-US" sz="3200" b="1"/>
              <a:t>“New recipe”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6477000" y="1676401"/>
            <a:ext cx="33528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3200" b="1"/>
              <a:t>Formulation 2</a:t>
            </a:r>
          </a:p>
          <a:p>
            <a:pPr eaLnBrk="0" hangingPunct="0">
              <a:spcBef>
                <a:spcPct val="50000"/>
              </a:spcBef>
            </a:pPr>
            <a:r>
              <a:rPr lang="en-US" sz="3200" b="1"/>
              <a:t>“Original recipe”</a:t>
            </a:r>
            <a:endParaRPr lang="en-US" sz="3200"/>
          </a:p>
        </p:txBody>
      </p:sp>
      <p:graphicFrame>
        <p:nvGraphicFramePr>
          <p:cNvPr id="5939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6642101" y="3048000"/>
          <a:ext cx="239236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7" name="Equation" r:id="rId5" imgW="685800" imgH="939600" progId="">
                  <p:embed/>
                </p:oleObj>
              </mc:Choice>
              <mc:Fallback>
                <p:oleObj name="Equation" r:id="rId5" imgW="685800" imgH="939600" progId="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1" y="3048000"/>
                        <a:ext cx="239236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350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sz="3600" b="1"/>
              <a:t>How the Two-Sample </a:t>
            </a:r>
            <a:r>
              <a:rPr lang="en-US" sz="3600" b="1" i="1"/>
              <a:t>t</a:t>
            </a:r>
            <a:r>
              <a:rPr lang="en-US" sz="3600" b="1"/>
              <a:t>-Test Works: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09800" y="3429000"/>
            <a:ext cx="7772400" cy="3200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600"/>
              <a:t>Values of </a:t>
            </a:r>
            <a:r>
              <a:rPr lang="en-US" sz="2600" i="1"/>
              <a:t>t</a:t>
            </a:r>
            <a:r>
              <a:rPr lang="en-US" sz="2600" baseline="-25000"/>
              <a:t>0 </a:t>
            </a:r>
            <a:r>
              <a:rPr lang="en-US" sz="2600"/>
              <a:t> that are near zero are consistent with null hypothesis</a:t>
            </a:r>
          </a:p>
          <a:p>
            <a:pPr>
              <a:lnSpc>
                <a:spcPct val="90000"/>
              </a:lnSpc>
            </a:pPr>
            <a:r>
              <a:rPr lang="en-US" sz="2600"/>
              <a:t>Values of  </a:t>
            </a:r>
            <a:r>
              <a:rPr lang="en-US" sz="2600" i="1"/>
              <a:t>t</a:t>
            </a:r>
            <a:r>
              <a:rPr lang="en-US" sz="2600" baseline="-25000"/>
              <a:t>0 </a:t>
            </a:r>
            <a:r>
              <a:rPr lang="en-US" sz="2600"/>
              <a:t>that are very different from zero are consistent with alternative hypothesis</a:t>
            </a:r>
          </a:p>
          <a:p>
            <a:pPr>
              <a:lnSpc>
                <a:spcPct val="90000"/>
              </a:lnSpc>
            </a:pPr>
            <a:r>
              <a:rPr lang="en-US" sz="2600"/>
              <a:t> </a:t>
            </a:r>
            <a:r>
              <a:rPr lang="en-US" sz="2600" i="1"/>
              <a:t>t</a:t>
            </a:r>
            <a:r>
              <a:rPr lang="en-US" sz="2600" baseline="-25000"/>
              <a:t>0 </a:t>
            </a:r>
            <a:r>
              <a:rPr lang="en-US" sz="2600"/>
              <a:t>is a “distance” measure-how far apart the averages are expressed in standard deviation units</a:t>
            </a:r>
          </a:p>
          <a:p>
            <a:pPr>
              <a:lnSpc>
                <a:spcPct val="90000"/>
              </a:lnSpc>
            </a:pPr>
            <a:r>
              <a:rPr lang="en-US" sz="2600"/>
              <a:t>Notice the interpretation of </a:t>
            </a:r>
            <a:r>
              <a:rPr lang="en-US" sz="2600" i="1"/>
              <a:t>t</a:t>
            </a:r>
            <a:r>
              <a:rPr lang="en-US" sz="2600" baseline="-25000"/>
              <a:t>0 </a:t>
            </a:r>
            <a:r>
              <a:rPr lang="en-US" sz="2600"/>
              <a:t>as a </a:t>
            </a:r>
            <a:r>
              <a:rPr lang="en-US" sz="2600" b="1">
                <a:solidFill>
                  <a:schemeClr val="accent2"/>
                </a:solidFill>
              </a:rPr>
              <a:t>signal-to-noise</a:t>
            </a:r>
            <a:r>
              <a:rPr lang="en-US" sz="2600" b="1"/>
              <a:t> </a:t>
            </a:r>
            <a:r>
              <a:rPr lang="en-US" sz="2600"/>
              <a:t>ratio</a:t>
            </a:r>
          </a:p>
        </p:txBody>
      </p:sp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2590800" y="1219201"/>
          <a:ext cx="4572000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Equation" r:id="rId3" imgW="1892160" imgH="888840" progId="">
                  <p:embed/>
                </p:oleObj>
              </mc:Choice>
              <mc:Fallback>
                <p:oleObj name="Equation" r:id="rId3" imgW="1892160" imgH="888840" progId="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219201"/>
                        <a:ext cx="4572000" cy="205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545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How the Two-Sample </a:t>
            </a:r>
            <a:r>
              <a:rPr lang="en-US" sz="3600" b="1" i="1"/>
              <a:t>t</a:t>
            </a:r>
            <a:r>
              <a:rPr lang="en-US" sz="3600" b="1"/>
              <a:t>-Test Works:</a:t>
            </a:r>
          </a:p>
        </p:txBody>
      </p: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2438400" y="1524001"/>
          <a:ext cx="7315200" cy="462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4" name="Equation" r:id="rId3" imgW="2971800" imgH="1879560" progId="">
                  <p:embed/>
                </p:oleObj>
              </mc:Choice>
              <mc:Fallback>
                <p:oleObj name="Equation" r:id="rId3" imgW="2971800" imgH="1879560" progId="">
                  <p:embed/>
                  <p:pic>
                    <p:nvPicPr>
                      <p:cNvPr id="614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1"/>
                        <a:ext cx="7315200" cy="462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43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The Two-Sample (Pooled) </a:t>
            </a:r>
            <a:r>
              <a:rPr lang="en-US" sz="3600" b="1" i="1"/>
              <a:t>t</a:t>
            </a:r>
            <a:r>
              <a:rPr lang="en-US" sz="3600" b="1"/>
              <a:t>-Test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2132013" y="1752601"/>
          <a:ext cx="7624762" cy="415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8" name="Equation" r:id="rId3" imgW="4216320" imgH="2298600" progId="">
                  <p:embed/>
                </p:oleObj>
              </mc:Choice>
              <mc:Fallback>
                <p:oleObj name="Equation" r:id="rId3" imgW="4216320" imgH="2298600" progId="">
                  <p:embed/>
                  <p:pic>
                    <p:nvPicPr>
                      <p:cNvPr id="634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1752601"/>
                        <a:ext cx="7624762" cy="415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314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sz="3600" b="1"/>
              <a:t>The Two-Sample (Pooled) </a:t>
            </a:r>
            <a:r>
              <a:rPr lang="en-US" sz="3600" b="1" i="1"/>
              <a:t>t</a:t>
            </a:r>
            <a:r>
              <a:rPr lang="en-US" sz="3600" b="1"/>
              <a:t>-Test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1447800"/>
            <a:ext cx="3581400" cy="4572000"/>
          </a:xfrm>
          <a:ln w="28575">
            <a:solidFill>
              <a:srgbClr val="FF0000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So far, we haven’t really done any “statistics”</a:t>
            </a:r>
          </a:p>
          <a:p>
            <a:pPr>
              <a:lnSpc>
                <a:spcPct val="90000"/>
              </a:lnSpc>
            </a:pPr>
            <a:r>
              <a:rPr lang="en-US" sz="2400"/>
              <a:t>We need an </a:t>
            </a:r>
            <a:r>
              <a:rPr lang="en-US" sz="2400" b="1">
                <a:solidFill>
                  <a:schemeClr val="accent2"/>
                </a:solidFill>
              </a:rPr>
              <a:t>objective</a:t>
            </a:r>
            <a:r>
              <a:rPr lang="en-US" sz="2400"/>
              <a:t> basis for deciding how large the test statistic </a:t>
            </a:r>
            <a:r>
              <a:rPr lang="en-US" sz="2400" i="1"/>
              <a:t>t</a:t>
            </a:r>
            <a:r>
              <a:rPr lang="en-US" sz="2400" baseline="-25000"/>
              <a:t>0  </a:t>
            </a:r>
            <a:r>
              <a:rPr lang="en-US" sz="2400"/>
              <a:t>really is</a:t>
            </a:r>
          </a:p>
          <a:p>
            <a:pPr>
              <a:lnSpc>
                <a:spcPct val="90000"/>
              </a:lnSpc>
            </a:pPr>
            <a:r>
              <a:rPr lang="en-US" sz="2400"/>
              <a:t>In 1908, W. S. Gosset derived the </a:t>
            </a:r>
            <a:r>
              <a:rPr lang="en-US" sz="2400" b="1">
                <a:solidFill>
                  <a:schemeClr val="accent2"/>
                </a:solidFill>
              </a:rPr>
              <a:t>reference</a:t>
            </a:r>
            <a:r>
              <a:rPr lang="en-US" sz="2400"/>
              <a:t> </a:t>
            </a:r>
            <a:r>
              <a:rPr lang="en-US" sz="2400" b="1">
                <a:solidFill>
                  <a:schemeClr val="accent2"/>
                </a:solidFill>
              </a:rPr>
              <a:t>distribution</a:t>
            </a:r>
            <a:r>
              <a:rPr lang="en-US" sz="2400"/>
              <a:t> for </a:t>
            </a:r>
            <a:r>
              <a:rPr lang="en-US" sz="2400" i="1"/>
              <a:t>t</a:t>
            </a:r>
            <a:r>
              <a:rPr lang="en-US" sz="2400" baseline="-25000"/>
              <a:t>0 </a:t>
            </a:r>
            <a:r>
              <a:rPr lang="en-US" sz="2400"/>
              <a:t>… called the </a:t>
            </a:r>
            <a:r>
              <a:rPr lang="en-US" sz="2400" i="1"/>
              <a:t>t</a:t>
            </a:r>
            <a:r>
              <a:rPr lang="en-US" sz="2400"/>
              <a:t> distribution</a:t>
            </a:r>
          </a:p>
          <a:p>
            <a:pPr>
              <a:lnSpc>
                <a:spcPct val="90000"/>
              </a:lnSpc>
            </a:pPr>
            <a:r>
              <a:rPr lang="en-US" sz="2400"/>
              <a:t>Tables of the </a:t>
            </a:r>
            <a:r>
              <a:rPr lang="en-US" sz="2400" i="1"/>
              <a:t>t</a:t>
            </a:r>
            <a:r>
              <a:rPr lang="en-US" sz="2400"/>
              <a:t> distribution - text, page 606</a:t>
            </a:r>
          </a:p>
          <a:p>
            <a:pPr>
              <a:lnSpc>
                <a:spcPct val="90000"/>
              </a:lnSpc>
            </a:pPr>
            <a:endParaRPr lang="en-US" sz="2400" baseline="-25000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7826" y="2133601"/>
            <a:ext cx="5057775" cy="337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6096000" y="1668464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/>
              <a:t>t</a:t>
            </a:r>
            <a:r>
              <a:rPr lang="en-US" sz="2000" baseline="-25000"/>
              <a:t>0</a:t>
            </a:r>
            <a:r>
              <a:rPr lang="en-US" sz="2000"/>
              <a:t> = -2.20</a:t>
            </a:r>
            <a:endParaRPr lang="en-US" sz="2000" i="1"/>
          </a:p>
        </p:txBody>
      </p:sp>
      <p:sp>
        <p:nvSpPr>
          <p:cNvPr id="64518" name="Line 6"/>
          <p:cNvSpPr>
            <a:spLocks noChangeShapeType="1"/>
          </p:cNvSpPr>
          <p:nvPr/>
        </p:nvSpPr>
        <p:spPr bwMode="auto">
          <a:xfrm>
            <a:off x="6781800" y="2057400"/>
            <a:ext cx="3048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7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sz="3600" b="1"/>
              <a:t>The Two-Sample (Pooled) </a:t>
            </a:r>
            <a:r>
              <a:rPr lang="en-US" sz="3600" b="1" i="1"/>
              <a:t>t</a:t>
            </a:r>
            <a:r>
              <a:rPr lang="en-US" sz="3600" b="1"/>
              <a:t>-Test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19200"/>
            <a:ext cx="3276600" cy="4953000"/>
          </a:xfrm>
          <a:ln w="28575">
            <a:solidFill>
              <a:srgbClr val="FF0000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A value of </a:t>
            </a:r>
            <a:r>
              <a:rPr lang="en-US" sz="2400" i="1"/>
              <a:t>t</a:t>
            </a:r>
            <a:r>
              <a:rPr lang="en-US" sz="2400" baseline="-25000"/>
              <a:t>0</a:t>
            </a:r>
            <a:r>
              <a:rPr lang="en-US" sz="2400"/>
              <a:t> between     –2.101 and 2.101 is consistent with equality of means</a:t>
            </a:r>
          </a:p>
          <a:p>
            <a:pPr>
              <a:lnSpc>
                <a:spcPct val="90000"/>
              </a:lnSpc>
            </a:pPr>
            <a:r>
              <a:rPr lang="en-US" sz="2400"/>
              <a:t>It is possible for the means to be equal and </a:t>
            </a:r>
            <a:r>
              <a:rPr lang="en-US" sz="2400" i="1"/>
              <a:t>t</a:t>
            </a:r>
            <a:r>
              <a:rPr lang="en-US" sz="2400" baseline="-25000"/>
              <a:t>0</a:t>
            </a:r>
            <a:r>
              <a:rPr lang="en-US" sz="2400"/>
              <a:t> to exceed either 2.101 or –2.101, but it would be a “</a:t>
            </a:r>
            <a:r>
              <a:rPr lang="en-US" sz="2400" b="1">
                <a:solidFill>
                  <a:schemeClr val="accent2"/>
                </a:solidFill>
              </a:rPr>
              <a:t>rare</a:t>
            </a:r>
            <a:r>
              <a:rPr lang="en-US" sz="2400"/>
              <a:t> </a:t>
            </a:r>
            <a:r>
              <a:rPr lang="en-US" sz="2400" b="1">
                <a:solidFill>
                  <a:schemeClr val="accent2"/>
                </a:solidFill>
              </a:rPr>
              <a:t>event</a:t>
            </a:r>
            <a:r>
              <a:rPr lang="en-US" sz="2400"/>
              <a:t>” … leads to the conclusion that the means are different </a:t>
            </a:r>
          </a:p>
          <a:p>
            <a:pPr>
              <a:lnSpc>
                <a:spcPct val="90000"/>
              </a:lnSpc>
            </a:pPr>
            <a:r>
              <a:rPr lang="en-US" sz="2400"/>
              <a:t>Could also use the   </a:t>
            </a:r>
            <a:r>
              <a:rPr lang="en-US" sz="2400" b="1" i="1">
                <a:solidFill>
                  <a:schemeClr val="accent2"/>
                </a:solidFill>
              </a:rPr>
              <a:t>P</a:t>
            </a:r>
            <a:r>
              <a:rPr lang="en-US" sz="2400" b="1">
                <a:solidFill>
                  <a:schemeClr val="accent2"/>
                </a:solidFill>
              </a:rPr>
              <a:t>-value</a:t>
            </a:r>
            <a:r>
              <a:rPr lang="en-US" sz="2400"/>
              <a:t> approach</a:t>
            </a:r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000251"/>
            <a:ext cx="5410200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6096000" y="1524001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/>
              <a:t>t</a:t>
            </a:r>
            <a:r>
              <a:rPr lang="en-US" sz="2000" baseline="-25000"/>
              <a:t>0</a:t>
            </a:r>
            <a:r>
              <a:rPr lang="en-US" sz="2000"/>
              <a:t> = -2.20</a:t>
            </a:r>
            <a:endParaRPr lang="en-US" sz="2000" i="1"/>
          </a:p>
        </p:txBody>
      </p:sp>
      <p:sp>
        <p:nvSpPr>
          <p:cNvPr id="65542" name="Line 6"/>
          <p:cNvSpPr>
            <a:spLocks noChangeShapeType="1"/>
          </p:cNvSpPr>
          <p:nvPr/>
        </p:nvSpPr>
        <p:spPr bwMode="auto">
          <a:xfrm>
            <a:off x="6553200" y="1981200"/>
            <a:ext cx="4572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6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sz="4000" b="1"/>
              <a:t>The Two-Sample (Pooled) </a:t>
            </a:r>
            <a:r>
              <a:rPr lang="en-US" sz="4000" b="1" i="1"/>
              <a:t>t</a:t>
            </a:r>
            <a:r>
              <a:rPr lang="en-US" sz="4000" b="1"/>
              <a:t>-Test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09800" y="5105400"/>
            <a:ext cx="8077200" cy="1219200"/>
          </a:xfrm>
          <a:ln w="28575">
            <a:solidFill>
              <a:schemeClr val="accent2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The </a:t>
            </a:r>
            <a:r>
              <a:rPr lang="en-US" sz="2400" b="1" i="1">
                <a:solidFill>
                  <a:srgbClr val="FF0000"/>
                </a:solidFill>
              </a:rPr>
              <a:t>P-</a:t>
            </a:r>
            <a:r>
              <a:rPr lang="en-US" sz="2400" b="1">
                <a:solidFill>
                  <a:srgbClr val="FF0000"/>
                </a:solidFill>
              </a:rPr>
              <a:t>value</a:t>
            </a:r>
            <a:r>
              <a:rPr lang="en-US" sz="2400"/>
              <a:t> is the risk of </a:t>
            </a:r>
            <a:r>
              <a:rPr lang="en-US" sz="2400" b="1">
                <a:solidFill>
                  <a:srgbClr val="FF0000"/>
                </a:solidFill>
              </a:rPr>
              <a:t>wrongly rejecting</a:t>
            </a:r>
            <a:r>
              <a:rPr lang="en-US" sz="2400"/>
              <a:t> the null hypothesis of equal means (it measures rareness of the event)</a:t>
            </a:r>
          </a:p>
          <a:p>
            <a:pPr>
              <a:lnSpc>
                <a:spcPct val="90000"/>
              </a:lnSpc>
            </a:pPr>
            <a:r>
              <a:rPr lang="en-US" sz="2400"/>
              <a:t>The </a:t>
            </a:r>
            <a:r>
              <a:rPr lang="en-US" sz="2400" i="1"/>
              <a:t>P-</a:t>
            </a:r>
            <a:r>
              <a:rPr lang="en-US" sz="2400"/>
              <a:t>value in our problem is </a:t>
            </a:r>
            <a:r>
              <a:rPr lang="en-US" sz="2400" i="1"/>
              <a:t>P</a:t>
            </a:r>
            <a:r>
              <a:rPr lang="en-US" sz="2400"/>
              <a:t> = 0.042</a:t>
            </a:r>
          </a:p>
        </p:txBody>
      </p:sp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1069976"/>
            <a:ext cx="5943600" cy="396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4267200" y="2057401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i="1"/>
              <a:t>t</a:t>
            </a:r>
            <a:r>
              <a:rPr lang="en-US" sz="2000" baseline="-25000"/>
              <a:t>0</a:t>
            </a:r>
            <a:r>
              <a:rPr lang="en-US" sz="2000"/>
              <a:t> = -2.20</a:t>
            </a:r>
            <a:endParaRPr lang="en-US" sz="2000" i="1"/>
          </a:p>
        </p:txBody>
      </p:sp>
      <p:sp>
        <p:nvSpPr>
          <p:cNvPr id="66566" name="Line 6"/>
          <p:cNvSpPr>
            <a:spLocks noChangeShapeType="1"/>
          </p:cNvSpPr>
          <p:nvPr/>
        </p:nvSpPr>
        <p:spPr bwMode="auto">
          <a:xfrm>
            <a:off x="4876800" y="2438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3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Importance of the </a:t>
            </a:r>
            <a:r>
              <a:rPr lang="en-US" b="1" i="1"/>
              <a:t>t</a:t>
            </a:r>
            <a:r>
              <a:rPr lang="en-US" b="1"/>
              <a:t>-Test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Provides an </a:t>
            </a:r>
            <a:r>
              <a:rPr lang="en-US" b="1">
                <a:solidFill>
                  <a:schemeClr val="accent2"/>
                </a:solidFill>
              </a:rPr>
              <a:t>objective</a:t>
            </a:r>
            <a:r>
              <a:rPr lang="en-US"/>
              <a:t> framework for simple comparative experiments</a:t>
            </a:r>
          </a:p>
          <a:p>
            <a:r>
              <a:rPr lang="en-US"/>
              <a:t>Could be used to test all relevant hypotheses in a two-level factorial design, because all of these hypotheses involve the mean response at one “side” of the cube versus the mean response at the opposite “side” of the cube</a:t>
            </a:r>
          </a:p>
        </p:txBody>
      </p:sp>
    </p:spTree>
    <p:extLst>
      <p:ext uri="{BB962C8B-B14F-4D97-AF65-F5344CB8AC3E}">
        <p14:creationId xmlns:p14="http://schemas.microsoft.com/office/powerpoint/2010/main" val="340056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US" b="1"/>
              <a:t>Confidence Intervals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4800600"/>
          </a:xfrm>
        </p:spPr>
        <p:txBody>
          <a:bodyPr/>
          <a:lstStyle/>
          <a:p>
            <a:r>
              <a:rPr lang="en-US" sz="3000"/>
              <a:t>Hypothesis testing gives an objective statement concerning the difference in means, but it doesn’t specify “how different” they are</a:t>
            </a:r>
          </a:p>
          <a:p>
            <a:r>
              <a:rPr lang="en-US" sz="3000" b="1">
                <a:solidFill>
                  <a:schemeClr val="accent2"/>
                </a:solidFill>
              </a:rPr>
              <a:t>General</a:t>
            </a:r>
            <a:r>
              <a:rPr lang="en-US" sz="3000"/>
              <a:t> </a:t>
            </a:r>
            <a:r>
              <a:rPr lang="en-US" sz="3000" b="1">
                <a:solidFill>
                  <a:schemeClr val="accent2"/>
                </a:solidFill>
              </a:rPr>
              <a:t>form</a:t>
            </a:r>
            <a:r>
              <a:rPr lang="en-US" sz="3000"/>
              <a:t> of a confidence interval </a:t>
            </a:r>
          </a:p>
          <a:p>
            <a:endParaRPr lang="en-US" sz="3000"/>
          </a:p>
          <a:p>
            <a:r>
              <a:rPr lang="en-US" sz="3000"/>
              <a:t>The 100(1-  </a:t>
            </a:r>
            <a:r>
              <a:rPr lang="el-GR" sz="3000">
                <a:cs typeface="Times New Roman" pitchFamily="18" charset="0"/>
              </a:rPr>
              <a:t>α</a:t>
            </a:r>
            <a:r>
              <a:rPr lang="en-US" sz="3000"/>
              <a:t>)%  </a:t>
            </a:r>
            <a:r>
              <a:rPr lang="en-US" sz="3000" b="1">
                <a:solidFill>
                  <a:schemeClr val="accent2"/>
                </a:solidFill>
              </a:rPr>
              <a:t>confidence</a:t>
            </a:r>
            <a:r>
              <a:rPr lang="en-US" sz="3000"/>
              <a:t> </a:t>
            </a:r>
            <a:r>
              <a:rPr lang="en-US" sz="3000" b="1">
                <a:solidFill>
                  <a:schemeClr val="accent2"/>
                </a:solidFill>
              </a:rPr>
              <a:t>interval</a:t>
            </a:r>
            <a:r>
              <a:rPr lang="en-US" sz="3000"/>
              <a:t> on the difference in two means:</a:t>
            </a:r>
          </a:p>
          <a:p>
            <a:endParaRPr lang="en-US" sz="3000"/>
          </a:p>
          <a:p>
            <a:endParaRPr lang="en-US" sz="2800"/>
          </a:p>
        </p:txBody>
      </p:sp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2895600" y="3363913"/>
          <a:ext cx="6553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2" name="Equation" r:id="rId3" imgW="2374560" imgH="203040" progId="">
                  <p:embed/>
                </p:oleObj>
              </mc:Choice>
              <mc:Fallback>
                <p:oleObj name="Equation" r:id="rId3" imgW="2374560" imgH="203040" progId="">
                  <p:embed/>
                  <p:pic>
                    <p:nvPicPr>
                      <p:cNvPr id="706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363913"/>
                        <a:ext cx="65532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1905000" y="5021264"/>
          <a:ext cx="8763000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3" name="Equation" r:id="rId5" imgW="3759120" imgH="558720" progId="">
                  <p:embed/>
                </p:oleObj>
              </mc:Choice>
              <mc:Fallback>
                <p:oleObj name="Equation" r:id="rId5" imgW="3759120" imgH="558720" progId="">
                  <p:embed/>
                  <p:pic>
                    <p:nvPicPr>
                      <p:cNvPr id="706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021264"/>
                        <a:ext cx="8763000" cy="1303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918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sz="4600" b="1"/>
              <a:t>Summary</a:t>
            </a:r>
            <a:r>
              <a:rPr lang="en-US" sz="4200" b="1"/>
              <a:t> </a:t>
            </a:r>
            <a:r>
              <a:rPr lang="en-US" sz="3800" b="1"/>
              <a:t/>
            </a:r>
            <a:br>
              <a:rPr lang="en-US" sz="3800" b="1"/>
            </a:br>
            <a:r>
              <a:rPr lang="en-US" sz="2000" b="1"/>
              <a:t>(</a:t>
            </a:r>
            <a:r>
              <a:rPr lang="en-US" sz="1800" b="1"/>
              <a:t>Mendenhall &amp;Sincich, </a:t>
            </a:r>
            <a:r>
              <a:rPr lang="en-US" sz="1800" b="1" i="1"/>
              <a:t>Stat. for Eng. and Sciences</a:t>
            </a:r>
            <a:r>
              <a:rPr lang="en-US" sz="1800" b="1"/>
              <a:t>, Prentice Hall,1995)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772400" cy="4495800"/>
          </a:xfrm>
        </p:spPr>
        <p:txBody>
          <a:bodyPr/>
          <a:lstStyle/>
          <a:p>
            <a:r>
              <a:rPr lang="en-US" sz="2800"/>
              <a:t>Confidence interval for difference of means, when samples are large.</a:t>
            </a:r>
          </a:p>
        </p:txBody>
      </p:sp>
      <p:pic>
        <p:nvPicPr>
          <p:cNvPr id="1126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2635250"/>
            <a:ext cx="6019800" cy="429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0219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Summary (cont.)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752600"/>
            <a:ext cx="7772400" cy="4114800"/>
          </a:xfrm>
        </p:spPr>
        <p:txBody>
          <a:bodyPr/>
          <a:lstStyle/>
          <a:p>
            <a:r>
              <a:rPr lang="en-US" sz="2800"/>
              <a:t>Confidence interval for difference of means, when samples are small.</a:t>
            </a:r>
          </a:p>
          <a:p>
            <a:endParaRPr lang="en-US" sz="3600"/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2" cstate="print"/>
          <a:srcRect b="4707"/>
          <a:stretch>
            <a:fillRect/>
          </a:stretch>
        </p:blipFill>
        <p:spPr bwMode="auto">
          <a:xfrm>
            <a:off x="2667000" y="2667001"/>
            <a:ext cx="7696200" cy="419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5988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570164"/>
            <a:ext cx="6934200" cy="428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4694" name="Rectangle 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b="1"/>
              <a:t>Summary (cont.)</a:t>
            </a:r>
          </a:p>
        </p:txBody>
      </p:sp>
      <p:sp>
        <p:nvSpPr>
          <p:cNvPr id="1146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772400" cy="4114800"/>
          </a:xfrm>
          <a:noFill/>
          <a:ln/>
        </p:spPr>
        <p:txBody>
          <a:bodyPr/>
          <a:lstStyle/>
          <a:p>
            <a:r>
              <a:rPr lang="en-US" sz="2800"/>
              <a:t>Confidence interval for difference of means, when samples are small.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34201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-5400000">
            <a:off x="4232275" y="187325"/>
            <a:ext cx="4413250" cy="845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57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4114800"/>
          </a:xfrm>
          <a:noFill/>
          <a:ln/>
        </p:spPr>
        <p:txBody>
          <a:bodyPr/>
          <a:lstStyle/>
          <a:p>
            <a:r>
              <a:rPr lang="en-US" sz="2800"/>
              <a:t>Confidence interval for difference of means, when we use match pairs.</a:t>
            </a:r>
          </a:p>
          <a:p>
            <a:endParaRPr lang="en-US" sz="2800"/>
          </a:p>
        </p:txBody>
      </p:sp>
      <p:sp>
        <p:nvSpPr>
          <p:cNvPr id="115721" name="Rectangle 9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  <a:noFill/>
          <a:ln/>
        </p:spPr>
        <p:txBody>
          <a:bodyPr/>
          <a:lstStyle/>
          <a:p>
            <a:r>
              <a:rPr lang="en-US" b="1"/>
              <a:t>Summary (cont.)</a:t>
            </a:r>
          </a:p>
        </p:txBody>
      </p:sp>
    </p:spTree>
    <p:extLst>
      <p:ext uri="{BB962C8B-B14F-4D97-AF65-F5344CB8AC3E}">
        <p14:creationId xmlns:p14="http://schemas.microsoft.com/office/powerpoint/2010/main" val="341057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4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-5400000">
            <a:off x="4291013" y="-404812"/>
            <a:ext cx="3990975" cy="876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6742" name="Rectangle 6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  <a:noFill/>
          <a:ln/>
        </p:spPr>
        <p:txBody>
          <a:bodyPr/>
          <a:lstStyle/>
          <a:p>
            <a:r>
              <a:rPr lang="en-US" b="1"/>
              <a:t>Summary (cont.)</a:t>
            </a:r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4114800"/>
          </a:xfrm>
          <a:noFill/>
          <a:ln/>
        </p:spPr>
        <p:txBody>
          <a:bodyPr/>
          <a:lstStyle/>
          <a:p>
            <a:r>
              <a:rPr lang="en-US"/>
              <a:t>Confidence interval for variance.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2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-5400000">
            <a:off x="4228306" y="419894"/>
            <a:ext cx="4344988" cy="807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7766" name="Rectangle 6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  <a:noFill/>
          <a:ln/>
        </p:spPr>
        <p:txBody>
          <a:bodyPr/>
          <a:lstStyle/>
          <a:p>
            <a:r>
              <a:rPr lang="en-US" b="1"/>
              <a:t>Summary (cont.)</a:t>
            </a:r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4114800"/>
          </a:xfrm>
          <a:noFill/>
          <a:ln/>
        </p:spPr>
        <p:txBody>
          <a:bodyPr/>
          <a:lstStyle/>
          <a:p>
            <a:r>
              <a:rPr lang="en-US" sz="2800"/>
              <a:t>Confidence interval for difference of means, when we use match pairs.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02335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707</Words>
  <Application>Microsoft Office PowerPoint</Application>
  <PresentationFormat>Widescreen</PresentationFormat>
  <Paragraphs>96</Paragraphs>
  <Slides>31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Symbol</vt:lpstr>
      <vt:lpstr>Times New Roman</vt:lpstr>
      <vt:lpstr>Default Design</vt:lpstr>
      <vt:lpstr>Equation</vt:lpstr>
      <vt:lpstr>Experimental Design For Engineers </vt:lpstr>
      <vt:lpstr>Portland Cement Formulation</vt:lpstr>
      <vt:lpstr>Data Description</vt:lpstr>
      <vt:lpstr>Data Description (Cont.)</vt:lpstr>
      <vt:lpstr>Data Description (Cont.)</vt:lpstr>
      <vt:lpstr>Probability Distributions</vt:lpstr>
      <vt:lpstr>Probability Distributions (Cont.)</vt:lpstr>
      <vt:lpstr>Mean and Variances</vt:lpstr>
      <vt:lpstr>Sampling and Sampling Distributions</vt:lpstr>
      <vt:lpstr>Sampling Distributions</vt:lpstr>
      <vt:lpstr>Sampling Distributions (cont.)</vt:lpstr>
      <vt:lpstr>Sampling Distributions (cont.)</vt:lpstr>
      <vt:lpstr>Sampling Distributions (cont.)</vt:lpstr>
      <vt:lpstr>The Hypothesis Testing Framework</vt:lpstr>
      <vt:lpstr>The Hypothesis Testing Framework</vt:lpstr>
      <vt:lpstr>Estimation of Parameters</vt:lpstr>
      <vt:lpstr>Summary Statistics</vt:lpstr>
      <vt:lpstr>How the Two-Sample t-Test Works:</vt:lpstr>
      <vt:lpstr>How the Two-Sample t-Test Works:</vt:lpstr>
      <vt:lpstr>The Two-Sample (Pooled) t-Test</vt:lpstr>
      <vt:lpstr>The Two-Sample (Pooled) t-Test</vt:lpstr>
      <vt:lpstr>The Two-Sample (Pooled) t-Test</vt:lpstr>
      <vt:lpstr>The Two-Sample (Pooled) t-Test</vt:lpstr>
      <vt:lpstr>Importance of the t-Test</vt:lpstr>
      <vt:lpstr>Confidence Intervals</vt:lpstr>
      <vt:lpstr>Summary  (Mendenhall &amp;Sincich, Stat. for Eng. and Sciences, Prentice Hall,1995)</vt:lpstr>
      <vt:lpstr>Summary (cont.)</vt:lpstr>
      <vt:lpstr>Summary (cont.)</vt:lpstr>
      <vt:lpstr>Summary (cont.)</vt:lpstr>
      <vt:lpstr>Summary (cont.)</vt:lpstr>
      <vt:lpstr>Summary (cont.)</vt:lpstr>
    </vt:vector>
  </TitlesOfParts>
  <Company>NIU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 Exp Des For Eng</dc:title>
  <dc:creator>R. Moraga</dc:creator>
  <cp:lastModifiedBy>Reinaldo Moraga</cp:lastModifiedBy>
  <cp:revision>33</cp:revision>
  <dcterms:created xsi:type="dcterms:W3CDTF">2002-08-16T01:39:43Z</dcterms:created>
  <dcterms:modified xsi:type="dcterms:W3CDTF">2022-01-25T23:14:34Z</dcterms:modified>
</cp:coreProperties>
</file>