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406" r:id="rId3"/>
    <p:sldId id="407" r:id="rId4"/>
    <p:sldId id="408" r:id="rId5"/>
    <p:sldId id="409" r:id="rId6"/>
    <p:sldId id="410" r:id="rId7"/>
    <p:sldId id="411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CC"/>
    <a:srgbClr val="808000"/>
    <a:srgbClr val="FF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79" autoAdjust="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aldo Moraga" userId="35d23698-1602-4507-8826-c8cfcda9e348" providerId="ADAL" clId="{D3CDB21E-0A6E-4509-AD3D-3C76DD42F41C}"/>
    <pc:docChg chg="modSld">
      <pc:chgData name="Reinaldo Moraga" userId="35d23698-1602-4507-8826-c8cfcda9e348" providerId="ADAL" clId="{D3CDB21E-0A6E-4509-AD3D-3C76DD42F41C}" dt="2026-02-23T01:20:04.530" v="16" actId="20577"/>
      <pc:docMkLst>
        <pc:docMk/>
      </pc:docMkLst>
      <pc:sldChg chg="modSp mod">
        <pc:chgData name="Reinaldo Moraga" userId="35d23698-1602-4507-8826-c8cfcda9e348" providerId="ADAL" clId="{D3CDB21E-0A6E-4509-AD3D-3C76DD42F41C}" dt="2026-02-23T01:17:56.441" v="4" actId="20577"/>
        <pc:sldMkLst>
          <pc:docMk/>
          <pc:sldMk cId="2887043971" sldId="406"/>
        </pc:sldMkLst>
        <pc:spChg chg="mod">
          <ac:chgData name="Reinaldo Moraga" userId="35d23698-1602-4507-8826-c8cfcda9e348" providerId="ADAL" clId="{D3CDB21E-0A6E-4509-AD3D-3C76DD42F41C}" dt="2026-02-23T01:15:45.447" v="1" actId="20577"/>
          <ac:spMkLst>
            <pc:docMk/>
            <pc:sldMk cId="2887043971" sldId="406"/>
            <ac:spMk id="18434" creationId="{00000000-0000-0000-0000-000000000000}"/>
          </ac:spMkLst>
        </pc:spChg>
        <pc:spChg chg="mod">
          <ac:chgData name="Reinaldo Moraga" userId="35d23698-1602-4507-8826-c8cfcda9e348" providerId="ADAL" clId="{D3CDB21E-0A6E-4509-AD3D-3C76DD42F41C}" dt="2026-02-23T01:17:56.441" v="4" actId="20577"/>
          <ac:spMkLst>
            <pc:docMk/>
            <pc:sldMk cId="2887043971" sldId="406"/>
            <ac:spMk id="18435" creationId="{00000000-0000-0000-0000-000000000000}"/>
          </ac:spMkLst>
        </pc:spChg>
      </pc:sldChg>
      <pc:sldChg chg="modSp mod">
        <pc:chgData name="Reinaldo Moraga" userId="35d23698-1602-4507-8826-c8cfcda9e348" providerId="ADAL" clId="{D3CDB21E-0A6E-4509-AD3D-3C76DD42F41C}" dt="2026-02-23T01:18:29.887" v="6" actId="20577"/>
        <pc:sldMkLst>
          <pc:docMk/>
          <pc:sldMk cId="911588033" sldId="407"/>
        </pc:sldMkLst>
        <pc:spChg chg="mod">
          <ac:chgData name="Reinaldo Moraga" userId="35d23698-1602-4507-8826-c8cfcda9e348" providerId="ADAL" clId="{D3CDB21E-0A6E-4509-AD3D-3C76DD42F41C}" dt="2026-02-23T01:18:29.887" v="6" actId="20577"/>
          <ac:spMkLst>
            <pc:docMk/>
            <pc:sldMk cId="911588033" sldId="407"/>
            <ac:spMk id="19459" creationId="{00000000-0000-0000-0000-000000000000}"/>
          </ac:spMkLst>
        </pc:spChg>
      </pc:sldChg>
      <pc:sldChg chg="modSp mod">
        <pc:chgData name="Reinaldo Moraga" userId="35d23698-1602-4507-8826-c8cfcda9e348" providerId="ADAL" clId="{D3CDB21E-0A6E-4509-AD3D-3C76DD42F41C}" dt="2026-02-23T01:19:30.531" v="12" actId="6549"/>
        <pc:sldMkLst>
          <pc:docMk/>
          <pc:sldMk cId="3604577020" sldId="408"/>
        </pc:sldMkLst>
        <pc:spChg chg="mod">
          <ac:chgData name="Reinaldo Moraga" userId="35d23698-1602-4507-8826-c8cfcda9e348" providerId="ADAL" clId="{D3CDB21E-0A6E-4509-AD3D-3C76DD42F41C}" dt="2026-02-23T01:19:30.531" v="12" actId="6549"/>
          <ac:spMkLst>
            <pc:docMk/>
            <pc:sldMk cId="3604577020" sldId="408"/>
            <ac:spMk id="21508" creationId="{00000000-0000-0000-0000-000000000000}"/>
          </ac:spMkLst>
        </pc:spChg>
      </pc:sldChg>
      <pc:sldChg chg="modSp mod">
        <pc:chgData name="Reinaldo Moraga" userId="35d23698-1602-4507-8826-c8cfcda9e348" providerId="ADAL" clId="{D3CDB21E-0A6E-4509-AD3D-3C76DD42F41C}" dt="2026-02-23T01:20:04.530" v="16" actId="20577"/>
        <pc:sldMkLst>
          <pc:docMk/>
          <pc:sldMk cId="3781653981" sldId="409"/>
        </pc:sldMkLst>
        <pc:spChg chg="mod">
          <ac:chgData name="Reinaldo Moraga" userId="35d23698-1602-4507-8826-c8cfcda9e348" providerId="ADAL" clId="{D3CDB21E-0A6E-4509-AD3D-3C76DD42F41C}" dt="2026-02-23T01:20:04.530" v="16" actId="20577"/>
          <ac:spMkLst>
            <pc:docMk/>
            <pc:sldMk cId="3781653981" sldId="409"/>
            <ac:spMk id="225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DF50915-C1A7-4D31-8C2B-4DE32F76A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04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8445E-7302-47AB-8F29-D67BD367AFC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95" y="5201093"/>
            <a:ext cx="538627" cy="9394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6D3B1-6875-4457-8B50-86F3518BEB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9A1F6-5E7F-4705-8C94-B9C704C7DC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71D19-ED00-48C1-A6B0-1C04DC1A17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DF9C9-C7EE-4706-8944-8389476B91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8AD0F-F9B0-4CCF-81F1-FF7910D9E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3C2E0-64E9-4821-ACC1-ADA5A13137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29B97F-2D42-42F1-921D-96AE01F952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057BA-2D4C-44CF-862F-8AB860D1B4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22826-8F07-4C46-90B7-7F5CCA77D4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DCD23-6B2D-466C-ABEA-3CB995ADD8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7EB0510-B5E9-48BD-9046-EF94B22E2C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7675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Chapter 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Design &amp; Analysis of Experiments 7E 2009 Montgomery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ECF5B0F-5BDB-460C-8447-924DFA4634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183C23-DD81-4E15-BFBA-2990194C5CA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B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0" y="990600"/>
            <a:ext cx="7315200" cy="2590800"/>
          </a:xfrm>
        </p:spPr>
        <p:txBody>
          <a:bodyPr/>
          <a:lstStyle/>
          <a:p>
            <a:r>
              <a:rPr lang="en-US" sz="5400" b="1" dirty="0"/>
              <a:t>Experimental Design For Engineers</a:t>
            </a:r>
            <a:r>
              <a:rPr lang="en-US" dirty="0"/>
              <a:t> 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US" sz="3600" b="1" dirty="0"/>
              <a:t>ISYE435-535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1143000"/>
          </a:xfrm>
        </p:spPr>
        <p:txBody>
          <a:bodyPr/>
          <a:lstStyle/>
          <a:p>
            <a:r>
              <a:rPr lang="en-US" sz="3600" b="1" dirty="0"/>
              <a:t>Other Aspects of the RCBD</a:t>
            </a:r>
            <a:br>
              <a:rPr lang="en-US" sz="3600" b="1" dirty="0"/>
            </a:br>
            <a:r>
              <a:rPr lang="en-US" sz="3600" b="1" dirty="0"/>
              <a:t>See Text, Section 4.1.3, pg. 125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8288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 RCBD utilizes an </a:t>
            </a:r>
            <a:r>
              <a:rPr lang="en-US" b="1" dirty="0">
                <a:solidFill>
                  <a:schemeClr val="accent2"/>
                </a:solidFill>
              </a:rPr>
              <a:t>additive model</a:t>
            </a:r>
            <a:r>
              <a:rPr lang="en-US" dirty="0"/>
              <a:t> – no interaction between treatments and blocks</a:t>
            </a:r>
          </a:p>
          <a:p>
            <a:pPr>
              <a:lnSpc>
                <a:spcPct val="90000"/>
              </a:lnSpc>
            </a:pPr>
            <a:r>
              <a:rPr lang="en-US" dirty="0"/>
              <a:t>Treatments and/or blocks as random effects</a:t>
            </a:r>
          </a:p>
          <a:p>
            <a:pPr>
              <a:lnSpc>
                <a:spcPct val="90000"/>
              </a:lnSpc>
            </a:pPr>
            <a:r>
              <a:rPr lang="en-US" dirty="0"/>
              <a:t>Missing values</a:t>
            </a:r>
          </a:p>
          <a:p>
            <a:pPr>
              <a:lnSpc>
                <a:spcPct val="90000"/>
              </a:lnSpc>
            </a:pPr>
            <a:r>
              <a:rPr lang="en-US" dirty="0"/>
              <a:t>What are the </a:t>
            </a:r>
            <a:r>
              <a:rPr lang="en-US" b="1" dirty="0">
                <a:solidFill>
                  <a:schemeClr val="accent2"/>
                </a:solidFill>
              </a:rPr>
              <a:t>consequences</a:t>
            </a:r>
            <a:r>
              <a:rPr lang="en-US" dirty="0"/>
              <a:t> of </a:t>
            </a:r>
            <a:r>
              <a:rPr lang="en-US" b="1" dirty="0">
                <a:solidFill>
                  <a:schemeClr val="accent2"/>
                </a:solidFill>
              </a:rPr>
              <a:t>not blocking</a:t>
            </a:r>
            <a:r>
              <a:rPr lang="en-US" dirty="0"/>
              <a:t> if we should have? 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2"/>
                </a:solidFill>
              </a:rPr>
              <a:t>Sample sizing</a:t>
            </a:r>
            <a:r>
              <a:rPr lang="en-US" dirty="0"/>
              <a:t> in the RCBD?  The </a:t>
            </a:r>
            <a:r>
              <a:rPr lang="en-US" b="1" dirty="0">
                <a:solidFill>
                  <a:schemeClr val="accent2"/>
                </a:solidFill>
              </a:rPr>
              <a:t>OC curve</a:t>
            </a:r>
            <a:r>
              <a:rPr lang="en-US" dirty="0"/>
              <a:t> approach can be used to determine the number of blocks to run..see page 93</a:t>
            </a:r>
          </a:p>
        </p:txBody>
      </p:sp>
    </p:spTree>
    <p:extLst>
      <p:ext uri="{BB962C8B-B14F-4D97-AF65-F5344CB8AC3E}">
        <p14:creationId xmlns:p14="http://schemas.microsoft.com/office/powerpoint/2010/main" val="288704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4000" b="1" dirty="0"/>
              <a:t>The Latin Square Design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7772400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Text reference, Section 4.2, pg. 133</a:t>
            </a:r>
          </a:p>
          <a:p>
            <a:pPr>
              <a:lnSpc>
                <a:spcPct val="90000"/>
              </a:lnSpc>
            </a:pPr>
            <a:r>
              <a:rPr lang="en-US" dirty="0"/>
              <a:t>These designs are used to simultaneously control (or eliminate) </a:t>
            </a:r>
            <a:r>
              <a:rPr lang="en-US" b="1" dirty="0">
                <a:solidFill>
                  <a:schemeClr val="accent2"/>
                </a:solidFill>
              </a:rPr>
              <a:t>two sources of nuisance variability</a:t>
            </a:r>
          </a:p>
          <a:p>
            <a:pPr>
              <a:lnSpc>
                <a:spcPct val="90000"/>
              </a:lnSpc>
            </a:pPr>
            <a:r>
              <a:rPr lang="en-US" dirty="0"/>
              <a:t>A significant assumption is that the three factors (treatments, nuisance factors) </a:t>
            </a:r>
            <a:r>
              <a:rPr lang="en-US" b="1" dirty="0">
                <a:solidFill>
                  <a:schemeClr val="accent2"/>
                </a:solidFill>
              </a:rPr>
              <a:t>do not interact</a:t>
            </a:r>
          </a:p>
          <a:p>
            <a:pPr>
              <a:lnSpc>
                <a:spcPct val="90000"/>
              </a:lnSpc>
            </a:pPr>
            <a:r>
              <a:rPr lang="en-US" dirty="0"/>
              <a:t>If this assumption is violated, the Latin square design will not produce valid results</a:t>
            </a:r>
          </a:p>
          <a:p>
            <a:pPr>
              <a:lnSpc>
                <a:spcPct val="90000"/>
              </a:lnSpc>
            </a:pPr>
            <a:r>
              <a:rPr lang="en-US" dirty="0"/>
              <a:t>Latin squares are not used as much as the RCBD in industrial experimentation </a:t>
            </a:r>
          </a:p>
        </p:txBody>
      </p:sp>
    </p:spTree>
    <p:extLst>
      <p:ext uri="{BB962C8B-B14F-4D97-AF65-F5344CB8AC3E}">
        <p14:creationId xmlns:p14="http://schemas.microsoft.com/office/powerpoint/2010/main" val="91158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3600" b="1"/>
              <a:t>The Rocket Propellant Problem –</a:t>
            </a:r>
            <a:br>
              <a:rPr lang="en-US" sz="3600" b="1"/>
            </a:br>
            <a:r>
              <a:rPr lang="en-US" sz="3600" b="1"/>
              <a:t>A Latin Square Design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133600" y="4648200"/>
            <a:ext cx="7772400" cy="167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This is a 5x5 Latin square design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Page 137 shows some other Latin squares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Table 4-13 (page 137) contains properties of Latin squares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Statistical analysis?</a:t>
            </a:r>
          </a:p>
        </p:txBody>
      </p:sp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525058"/>
            <a:ext cx="7086600" cy="276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04577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3600" b="1"/>
              <a:t>Statistical Analysis of the </a:t>
            </a:r>
            <a:br>
              <a:rPr lang="en-US" sz="3600" b="1"/>
            </a:br>
            <a:r>
              <a:rPr lang="en-US" sz="3600" b="1"/>
              <a:t>Latin Square Design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The statistical (effects) model is 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The statistical analysis (ANOVA) is much like the analysis for the RCBD.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See the ANOVA table, </a:t>
            </a:r>
            <a:r>
              <a:rPr lang="en-US" sz="2800"/>
              <a:t>page 135 </a:t>
            </a:r>
            <a:r>
              <a:rPr lang="en-US" sz="2800" dirty="0"/>
              <a:t>(Table 4.10)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The analysis for the rocket propellant example follows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2895600" y="2017714"/>
          <a:ext cx="5181600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711000" progId="Equation.DSMT4">
                  <p:embed/>
                </p:oleObj>
              </mc:Choice>
              <mc:Fallback>
                <p:oleObj name="Equation" r:id="rId2" imgW="2476440" imgH="711000" progId="Equation.DSMT4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017714"/>
                        <a:ext cx="5181600" cy="1487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165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09800" y="1290639"/>
            <a:ext cx="7772400" cy="4122737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66923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09800" y="838201"/>
            <a:ext cx="7772400" cy="2620963"/>
          </a:xfrm>
          <a:noFill/>
          <a:ln/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810001"/>
            <a:ext cx="8458200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311704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241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Times New Roman</vt:lpstr>
      <vt:lpstr>Default Design</vt:lpstr>
      <vt:lpstr>Equation</vt:lpstr>
      <vt:lpstr>Experimental Design For Engineers </vt:lpstr>
      <vt:lpstr>Other Aspects of the RCBD See Text, Section 4.1.3, pg. 125</vt:lpstr>
      <vt:lpstr>The Latin Square Design</vt:lpstr>
      <vt:lpstr>The Rocket Propellant Problem – A Latin Square Design</vt:lpstr>
      <vt:lpstr>Statistical Analysis of the  Latin Square Design</vt:lpstr>
      <vt:lpstr>PowerPoint Presentation</vt:lpstr>
      <vt:lpstr>PowerPoint Presentation</vt:lpstr>
    </vt:vector>
  </TitlesOfParts>
  <Company>NIU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 Exp Des For Eng</dc:title>
  <dc:creator>R. Moraga</dc:creator>
  <cp:lastModifiedBy>Reinaldo Moraga</cp:lastModifiedBy>
  <cp:revision>47</cp:revision>
  <dcterms:created xsi:type="dcterms:W3CDTF">2002-08-16T01:39:43Z</dcterms:created>
  <dcterms:modified xsi:type="dcterms:W3CDTF">2026-02-23T01:20:06Z</dcterms:modified>
</cp:coreProperties>
</file>