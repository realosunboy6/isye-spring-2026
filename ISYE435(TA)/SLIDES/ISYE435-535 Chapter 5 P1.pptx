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430" r:id="rId3"/>
    <p:sldId id="415" r:id="rId4"/>
    <p:sldId id="416" r:id="rId5"/>
    <p:sldId id="417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425" r:id="rId14"/>
    <p:sldId id="427" r:id="rId15"/>
    <p:sldId id="428" r:id="rId16"/>
    <p:sldId id="429" r:id="rId1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FFCC"/>
    <a:srgbClr val="808000"/>
    <a:srgbClr val="FFF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79" autoAdjust="0"/>
  </p:normalViewPr>
  <p:slideViewPr>
    <p:cSldViewPr>
      <p:cViewPr>
        <p:scale>
          <a:sx n="40" d="100"/>
          <a:sy n="40" d="100"/>
        </p:scale>
        <p:origin x="432" y="5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DF50915-C1A7-4D31-8C2B-4DE32F76A2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704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B8445E-7302-47AB-8F29-D67BD367AFCE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295" y="5201093"/>
            <a:ext cx="538627" cy="9394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D6D3B1-6875-4457-8B50-86F3518BEB2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F9A1F6-5E7F-4705-8C94-B9C704C7DC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C71D19-ED00-48C1-A6B0-1C04DC1A17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3DF9C9-C7EE-4706-8944-8389476B91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8AD0F-F9B0-4CCF-81F1-FF7910D9ED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E3C2E0-64E9-4821-ACC1-ADA5A13137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29B97F-2D42-42F1-921D-96AE01F952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F057BA-2D4C-44CF-862F-8AB860D1B43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422826-8F07-4C46-90B7-7F5CCA77D4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CDCD23-6B2D-466C-ABEA-3CB995ADD8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77EB0510-B5E9-48BD-9046-EF94B22E2C1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75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Chapter 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Design &amp; Analysis of Experiments 7E 2009 Montgomery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FECF5B0F-5BDB-460C-8447-924DFA4634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29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6183C23-DD81-4E15-BFBA-2990194C5CA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image" Target="../media/image6.png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1.png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3.wmf"/><Relationship Id="rId4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B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667000" y="990600"/>
            <a:ext cx="7315200" cy="2590800"/>
          </a:xfrm>
        </p:spPr>
        <p:txBody>
          <a:bodyPr/>
          <a:lstStyle/>
          <a:p>
            <a:r>
              <a:rPr lang="en-US" sz="5400" b="1" dirty="0"/>
              <a:t>Experimental Design For Engineers</a:t>
            </a:r>
            <a:r>
              <a:rPr lang="en-US" dirty="0"/>
              <a:t> 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US" sz="3600" b="1" dirty="0" smtClean="0"/>
              <a:t>ISYE435-535</a:t>
            </a:r>
            <a:endParaRPr lang="en-US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/>
              <a:t>Design of Engineering Experiments</a:t>
            </a:r>
            <a:br>
              <a:rPr lang="en-US" sz="3600" b="1"/>
            </a:br>
            <a:r>
              <a:rPr lang="en-US" sz="3600" b="1"/>
              <a:t>– Introduction to Factorials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981200"/>
            <a:ext cx="7772400" cy="3886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Text reference, Chapter 5</a:t>
            </a:r>
          </a:p>
          <a:p>
            <a:pPr>
              <a:lnSpc>
                <a:spcPct val="90000"/>
              </a:lnSpc>
            </a:pPr>
            <a:r>
              <a:rPr lang="en-US" b="1">
                <a:solidFill>
                  <a:schemeClr val="accent2"/>
                </a:solidFill>
              </a:rPr>
              <a:t>General principles</a:t>
            </a:r>
            <a:r>
              <a:rPr lang="en-US"/>
              <a:t> of factorial experiments</a:t>
            </a:r>
          </a:p>
          <a:p>
            <a:pPr>
              <a:lnSpc>
                <a:spcPct val="90000"/>
              </a:lnSpc>
            </a:pPr>
            <a:r>
              <a:rPr lang="en-US"/>
              <a:t>The </a:t>
            </a:r>
            <a:r>
              <a:rPr lang="en-US" b="1">
                <a:solidFill>
                  <a:schemeClr val="accent2"/>
                </a:solidFill>
              </a:rPr>
              <a:t>two-factor factorial</a:t>
            </a:r>
            <a:r>
              <a:rPr lang="en-US"/>
              <a:t> with fixed effects</a:t>
            </a:r>
          </a:p>
          <a:p>
            <a:pPr>
              <a:lnSpc>
                <a:spcPct val="90000"/>
              </a:lnSpc>
            </a:pPr>
            <a:r>
              <a:rPr lang="en-US"/>
              <a:t>The </a:t>
            </a:r>
            <a:r>
              <a:rPr lang="en-US" b="1">
                <a:solidFill>
                  <a:schemeClr val="accent2"/>
                </a:solidFill>
              </a:rPr>
              <a:t>ANOVA</a:t>
            </a:r>
            <a:r>
              <a:rPr lang="en-US"/>
              <a:t> for factorials</a:t>
            </a:r>
          </a:p>
          <a:p>
            <a:pPr>
              <a:lnSpc>
                <a:spcPct val="90000"/>
              </a:lnSpc>
            </a:pPr>
            <a:r>
              <a:rPr lang="en-US"/>
              <a:t>Extensions to more than two factors</a:t>
            </a:r>
          </a:p>
          <a:p>
            <a:pPr>
              <a:lnSpc>
                <a:spcPct val="90000"/>
              </a:lnSpc>
            </a:pPr>
            <a:r>
              <a:rPr lang="en-US" b="1">
                <a:solidFill>
                  <a:schemeClr val="accent2"/>
                </a:solidFill>
              </a:rPr>
              <a:t>Quantitative</a:t>
            </a:r>
            <a:r>
              <a:rPr lang="en-US"/>
              <a:t> and </a:t>
            </a:r>
            <a:r>
              <a:rPr lang="en-US" b="1">
                <a:solidFill>
                  <a:schemeClr val="accent2"/>
                </a:solidFill>
              </a:rPr>
              <a:t>qualitative</a:t>
            </a:r>
            <a:r>
              <a:rPr lang="en-US"/>
              <a:t> factors – response curves and surfaces</a:t>
            </a:r>
          </a:p>
        </p:txBody>
      </p:sp>
    </p:spTree>
    <p:extLst>
      <p:ext uri="{BB962C8B-B14F-4D97-AF65-F5344CB8AC3E}">
        <p14:creationId xmlns:p14="http://schemas.microsoft.com/office/powerpoint/2010/main" val="2817081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7772400" cy="914400"/>
          </a:xfrm>
        </p:spPr>
        <p:txBody>
          <a:bodyPr/>
          <a:lstStyle/>
          <a:p>
            <a:r>
              <a:rPr lang="en-US" sz="3600" b="1" dirty="0"/>
              <a:t>Some Basic Definitions</a:t>
            </a: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1981200" y="3886200"/>
            <a:ext cx="8305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/>
              <a:t>Definition of a factor effect: The change in the mean response when the factor is changed from low to high</a:t>
            </a:r>
          </a:p>
        </p:txBody>
      </p:sp>
      <p:graphicFrame>
        <p:nvGraphicFramePr>
          <p:cNvPr id="41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829000"/>
              </p:ext>
            </p:extLst>
          </p:nvPr>
        </p:nvGraphicFramePr>
        <p:xfrm>
          <a:off x="4038600" y="4708525"/>
          <a:ext cx="4038600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0" name="Equation" r:id="rId3" imgW="2349360" imgH="1206360" progId="Equation.DSMT4">
                  <p:embed/>
                </p:oleObj>
              </mc:Choice>
              <mc:Fallback>
                <p:oleObj name="Equation" r:id="rId3" imgW="2349360" imgH="1206360" progId="Equation.DSMT4">
                  <p:embed/>
                  <p:pic>
                    <p:nvPicPr>
                      <p:cNvPr id="41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708525"/>
                        <a:ext cx="4038600" cy="2073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90800" y="1219199"/>
            <a:ext cx="2743200" cy="264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91200" y="1142999"/>
            <a:ext cx="3429000" cy="271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30617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09664"/>
          </a:xfrm>
        </p:spPr>
        <p:txBody>
          <a:bodyPr/>
          <a:lstStyle/>
          <a:p>
            <a:r>
              <a:rPr lang="en-US" sz="3600" b="1" dirty="0"/>
              <a:t>The Case of Interaction</a:t>
            </a:r>
          </a:p>
        </p:txBody>
      </p:sp>
      <p:graphicFrame>
        <p:nvGraphicFramePr>
          <p:cNvPr id="51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413572"/>
              </p:ext>
            </p:extLst>
          </p:nvPr>
        </p:nvGraphicFramePr>
        <p:xfrm>
          <a:off x="3951288" y="4267200"/>
          <a:ext cx="4443412" cy="226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4" name="Equation" r:id="rId3" imgW="2361960" imgH="1206360" progId="Equation.DSMT4">
                  <p:embed/>
                </p:oleObj>
              </mc:Choice>
              <mc:Fallback>
                <p:oleObj name="Equation" r:id="rId3" imgW="2361960" imgH="1206360" progId="Equation.DSMT4">
                  <p:embed/>
                  <p:pic>
                    <p:nvPicPr>
                      <p:cNvPr id="51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1288" y="4267200"/>
                        <a:ext cx="4443412" cy="2268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19800" y="1371601"/>
            <a:ext cx="3124200" cy="278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667001" y="1371600"/>
            <a:ext cx="3070225" cy="279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55637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28600"/>
            <a:ext cx="8610600" cy="1143000"/>
          </a:xfrm>
        </p:spPr>
        <p:txBody>
          <a:bodyPr/>
          <a:lstStyle/>
          <a:p>
            <a:r>
              <a:rPr lang="en-US" sz="2800" b="1" dirty="0"/>
              <a:t>Regression Model &amp; the Associated Response Surface</a:t>
            </a:r>
          </a:p>
        </p:txBody>
      </p:sp>
      <p:graphicFrame>
        <p:nvGraphicFramePr>
          <p:cNvPr id="61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854081"/>
              </p:ext>
            </p:extLst>
          </p:nvPr>
        </p:nvGraphicFramePr>
        <p:xfrm>
          <a:off x="1981201" y="4953001"/>
          <a:ext cx="7889875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8" name="Equation" r:id="rId3" imgW="3441600" imgH="685800" progId="Equation.DSMT4">
                  <p:embed/>
                </p:oleObj>
              </mc:Choice>
              <mc:Fallback>
                <p:oleObj name="Equation" r:id="rId3" imgW="3441600" imgH="685800" progId="Equation.DSMT4">
                  <p:embed/>
                  <p:pic>
                    <p:nvPicPr>
                      <p:cNvPr id="61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1" y="4953001"/>
                        <a:ext cx="7889875" cy="157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1905000" y="4953000"/>
            <a:ext cx="8153400" cy="16002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05000" y="1524000"/>
            <a:ext cx="84582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49411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76200"/>
            <a:ext cx="8915400" cy="1371600"/>
          </a:xfrm>
        </p:spPr>
        <p:txBody>
          <a:bodyPr/>
          <a:lstStyle/>
          <a:p>
            <a:r>
              <a:rPr lang="en-US" sz="3200" b="1" dirty="0"/>
              <a:t>The Effect of Interaction on the Response Surface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828800" y="4876800"/>
            <a:ext cx="845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Suppose that we add an interaction term to the model:</a:t>
            </a:r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351986"/>
              </p:ext>
            </p:extLst>
          </p:nvPr>
        </p:nvGraphicFramePr>
        <p:xfrm>
          <a:off x="3352801" y="5486401"/>
          <a:ext cx="43465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2" name="Equation" r:id="rId3" imgW="1942920" imgH="228600" progId="Equation.DSMT4">
                  <p:embed/>
                </p:oleObj>
              </mc:Choice>
              <mc:Fallback>
                <p:oleObj name="Equation" r:id="rId3" imgW="1942920" imgH="228600" progId="Equation.DSMT4">
                  <p:embed/>
                  <p:pic>
                    <p:nvPicPr>
                      <p:cNvPr id="71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5486401"/>
                        <a:ext cx="434657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2590800" y="617220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accent2"/>
                </a:solidFill>
              </a:rPr>
              <a:t>Interaction</a:t>
            </a:r>
            <a:r>
              <a:rPr lang="en-US"/>
              <a:t> is actually a form of </a:t>
            </a:r>
            <a:r>
              <a:rPr lang="en-US" b="1">
                <a:solidFill>
                  <a:schemeClr val="accent2"/>
                </a:solidFill>
              </a:rPr>
              <a:t>curvature</a:t>
            </a: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1828800" y="4876800"/>
            <a:ext cx="8534400" cy="17526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33600" y="1447801"/>
            <a:ext cx="8001000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68923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sz="3200" b="1" dirty="0"/>
              <a:t>Example 5.1: The Battery Life Experiment</a:t>
            </a:r>
            <a:br>
              <a:rPr lang="en-US" sz="3200" b="1" dirty="0"/>
            </a:br>
            <a:r>
              <a:rPr lang="en-US" sz="3200" b="1" dirty="0"/>
              <a:t>Text (page </a:t>
            </a:r>
            <a:r>
              <a:rPr lang="en-US" sz="3200" b="1" dirty="0"/>
              <a:t>183)</a:t>
            </a:r>
            <a:endParaRPr lang="en-US" sz="3200" b="1" dirty="0"/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362200" y="4937125"/>
            <a:ext cx="77724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sz="2000" i="1" dirty="0"/>
              <a:t>A</a:t>
            </a:r>
            <a:r>
              <a:rPr lang="en-US" sz="2000" dirty="0"/>
              <a:t> = Material type; </a:t>
            </a:r>
            <a:r>
              <a:rPr lang="en-US" sz="2000" i="1" dirty="0"/>
              <a:t>B</a:t>
            </a:r>
            <a:r>
              <a:rPr lang="en-US" sz="2000" dirty="0"/>
              <a:t> = Temperature (A </a:t>
            </a:r>
            <a:r>
              <a:rPr lang="en-US" sz="2000" b="1" dirty="0">
                <a:solidFill>
                  <a:schemeClr val="accent2"/>
                </a:solidFill>
              </a:rPr>
              <a:t>quantitative</a:t>
            </a:r>
            <a:r>
              <a:rPr lang="en-US" sz="2000" dirty="0"/>
              <a:t> variable)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lang="en-US" sz="2000" dirty="0"/>
              <a:t>What </a:t>
            </a:r>
            <a:r>
              <a:rPr lang="en-US" sz="2000" b="1" dirty="0">
                <a:solidFill>
                  <a:schemeClr val="accent2"/>
                </a:solidFill>
              </a:rPr>
              <a:t>effects</a:t>
            </a:r>
            <a:r>
              <a:rPr lang="en-US" sz="2000" dirty="0"/>
              <a:t> do material type &amp; temperature have on life?</a:t>
            </a:r>
          </a:p>
          <a:p>
            <a:pPr marL="457200" indent="-457200">
              <a:spcBef>
                <a:spcPct val="50000"/>
              </a:spcBef>
            </a:pPr>
            <a:r>
              <a:rPr lang="en-US" sz="2000" dirty="0"/>
              <a:t>2.    Is there a choice of material that would give long life </a:t>
            </a:r>
            <a:r>
              <a:rPr lang="en-US" sz="2000" b="1" i="1" dirty="0">
                <a:solidFill>
                  <a:srgbClr val="FF0000"/>
                </a:solidFill>
              </a:rPr>
              <a:t>regardless of  temperature</a:t>
            </a:r>
            <a:r>
              <a:rPr lang="en-US" sz="2000" dirty="0"/>
              <a:t> (a </a:t>
            </a:r>
            <a:r>
              <a:rPr lang="en-US" sz="2000" b="1" dirty="0">
                <a:solidFill>
                  <a:schemeClr val="accent2"/>
                </a:solidFill>
              </a:rPr>
              <a:t>robust</a:t>
            </a:r>
            <a:r>
              <a:rPr lang="en-US" sz="2000" dirty="0"/>
              <a:t> product)?</a:t>
            </a:r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0588" y="1584325"/>
            <a:ext cx="8050212" cy="333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43326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sz="3600" b="1"/>
              <a:t>The General Two-Factor </a:t>
            </a:r>
            <a:br>
              <a:rPr lang="en-US" sz="3600" b="1"/>
            </a:br>
            <a:r>
              <a:rPr lang="en-US" sz="3600" b="1"/>
              <a:t>Factorial Experiment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2895600" y="5385137"/>
            <a:ext cx="67818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/>
              <a:t>a</a:t>
            </a:r>
            <a:r>
              <a:rPr lang="en-US"/>
              <a:t> levels of factor </a:t>
            </a:r>
            <a:r>
              <a:rPr lang="en-US" i="1"/>
              <a:t>A</a:t>
            </a:r>
            <a:r>
              <a:rPr lang="en-US"/>
              <a:t>; </a:t>
            </a:r>
            <a:r>
              <a:rPr lang="en-US" i="1"/>
              <a:t>b</a:t>
            </a:r>
            <a:r>
              <a:rPr lang="en-US"/>
              <a:t> levels of factor </a:t>
            </a:r>
            <a:r>
              <a:rPr lang="en-US" i="1"/>
              <a:t>B</a:t>
            </a:r>
            <a:r>
              <a:rPr lang="en-US"/>
              <a:t>; </a:t>
            </a:r>
            <a:r>
              <a:rPr lang="en-US" i="1"/>
              <a:t>n</a:t>
            </a:r>
            <a:r>
              <a:rPr lang="en-US"/>
              <a:t> replicates</a:t>
            </a:r>
          </a:p>
          <a:p>
            <a:pPr>
              <a:spcBef>
                <a:spcPct val="50000"/>
              </a:spcBef>
            </a:pPr>
            <a:r>
              <a:rPr lang="en-US"/>
              <a:t>This is a </a:t>
            </a:r>
            <a:r>
              <a:rPr lang="en-US" b="1">
                <a:solidFill>
                  <a:schemeClr val="accent2"/>
                </a:solidFill>
              </a:rPr>
              <a:t>completely randomized design</a:t>
            </a:r>
            <a:endParaRPr lang="en-US" b="1" i="1">
              <a:solidFill>
                <a:schemeClr val="accent2"/>
              </a:solidFill>
            </a:endParaRPr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651336"/>
            <a:ext cx="7620000" cy="360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35399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209800" y="3649663"/>
            <a:ext cx="449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Statistical (effects) model: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3200400" y="4114801"/>
          <a:ext cx="5486400" cy="148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6" name="Equation" r:id="rId3" imgW="2628720" imgH="711000" progId="Equation.DSMT4">
                  <p:embed/>
                </p:oleObj>
              </mc:Choice>
              <mc:Fallback>
                <p:oleObj name="Equation" r:id="rId3" imgW="2628720" imgH="711000" progId="Equation.DSMT4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114801"/>
                        <a:ext cx="5486400" cy="1484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2286000" y="5715000"/>
            <a:ext cx="784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Other models (means model, regression models) can be useful</a:t>
            </a:r>
          </a:p>
        </p:txBody>
      </p:sp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1" y="304801"/>
            <a:ext cx="7262813" cy="344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56910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Extension of the ANOVA to Factorials (Fixed Effects Case)</a:t>
            </a:r>
          </a:p>
        </p:txBody>
      </p:sp>
      <p:graphicFrame>
        <p:nvGraphicFramePr>
          <p:cNvPr id="11267" name="Object 3"/>
          <p:cNvGraphicFramePr>
            <a:graphicFrameLocks noChangeAspect="1"/>
          </p:cNvGraphicFramePr>
          <p:nvPr/>
        </p:nvGraphicFramePr>
        <p:xfrm>
          <a:off x="1676400" y="1979613"/>
          <a:ext cx="87630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2" name="Equation" r:id="rId3" imgW="4508280" imgH="914400" progId="Equation.DSMT4">
                  <p:embed/>
                </p:oleObj>
              </mc:Choice>
              <mc:Fallback>
                <p:oleObj name="Equation" r:id="rId3" imgW="4508280" imgH="914400" progId="Equation.DSMT4">
                  <p:embed/>
                  <p:pic>
                    <p:nvPicPr>
                      <p:cNvPr id="11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979613"/>
                        <a:ext cx="87630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2590800" y="4038600"/>
          <a:ext cx="7162800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3" name="Equation" r:id="rId5" imgW="2781000" imgH="672840" progId="Equation.DSMT4">
                  <p:embed/>
                </p:oleObj>
              </mc:Choice>
              <mc:Fallback>
                <p:oleObj name="Equation" r:id="rId5" imgW="2781000" imgH="672840" progId="Equation.DSMT4">
                  <p:embed/>
                  <p:pic>
                    <p:nvPicPr>
                      <p:cNvPr id="112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038600"/>
                        <a:ext cx="7162800" cy="173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7561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sz="3200" b="1"/>
              <a:t>ANOVA Table – Fixed Effects Case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2362200" y="4953000"/>
            <a:ext cx="7391400" cy="138499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accent2"/>
                </a:solidFill>
              </a:rPr>
              <a:t>Design-Expert</a:t>
            </a:r>
            <a:r>
              <a:rPr lang="en-US" dirty="0"/>
              <a:t> </a:t>
            </a:r>
            <a:r>
              <a:rPr lang="en-US" dirty="0"/>
              <a:t>will perform the computations</a:t>
            </a:r>
          </a:p>
          <a:p>
            <a:pPr>
              <a:spcBef>
                <a:spcPct val="50000"/>
              </a:spcBef>
            </a:pPr>
            <a:r>
              <a:rPr lang="en-US" dirty="0"/>
              <a:t>Text gives details of </a:t>
            </a:r>
            <a:r>
              <a:rPr lang="en-US" b="1" dirty="0">
                <a:solidFill>
                  <a:schemeClr val="accent2"/>
                </a:solidFill>
              </a:rPr>
              <a:t>manual computing</a:t>
            </a:r>
            <a:r>
              <a:rPr lang="en-US" dirty="0"/>
              <a:t> (ugh!) – see page </a:t>
            </a:r>
            <a:r>
              <a:rPr lang="en-US" dirty="0"/>
              <a:t>189</a:t>
            </a:r>
            <a:endParaRPr lang="en-US" dirty="0"/>
          </a:p>
        </p:txBody>
      </p:sp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219199"/>
            <a:ext cx="7162800" cy="351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02224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3" name="Picture 3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308225" y="609600"/>
            <a:ext cx="7575550" cy="5486400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0898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r>
              <a:rPr lang="en-US" sz="3200" b="1"/>
              <a:t>Design-Expert Output – Example 5.1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2057400"/>
            <a:ext cx="8220075" cy="368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1895475" y="1918494"/>
            <a:ext cx="8229600" cy="39624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865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1143000"/>
          </a:xfrm>
        </p:spPr>
        <p:txBody>
          <a:bodyPr/>
          <a:lstStyle/>
          <a:p>
            <a:r>
              <a:rPr lang="en-US" sz="3200" b="1"/>
              <a:t>Residual Analysis – Example 5.1</a:t>
            </a:r>
          </a:p>
        </p:txBody>
      </p:sp>
      <p:pic>
        <p:nvPicPr>
          <p:cNvPr id="14344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81200" y="1371601"/>
            <a:ext cx="8382000" cy="416401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2356182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Residual Analysis – Example 5.1</a:t>
            </a:r>
          </a:p>
        </p:txBody>
      </p:sp>
      <p:pic>
        <p:nvPicPr>
          <p:cNvPr id="16394" name="Picture 10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05000" y="1752601"/>
            <a:ext cx="8534400" cy="4194175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1684000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762000"/>
          </a:xfrm>
        </p:spPr>
        <p:txBody>
          <a:bodyPr/>
          <a:lstStyle/>
          <a:p>
            <a:r>
              <a:rPr lang="en-US" sz="3200" b="1"/>
              <a:t>Interaction Plot </a:t>
            </a: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 cstate="print"/>
          <a:srcRect t="2985" b="3853"/>
          <a:stretch>
            <a:fillRect/>
          </a:stretch>
        </p:blipFill>
        <p:spPr bwMode="auto">
          <a:xfrm>
            <a:off x="3200400" y="1219200"/>
            <a:ext cx="5791200" cy="5394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6885059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250</Words>
  <Application>Microsoft Office PowerPoint</Application>
  <PresentationFormat>Widescreen</PresentationFormat>
  <Paragraphs>33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Times New Roman</vt:lpstr>
      <vt:lpstr>Default Design</vt:lpstr>
      <vt:lpstr>Equation</vt:lpstr>
      <vt:lpstr>Experimental Design For Engineers </vt:lpstr>
      <vt:lpstr>Design of Engineering Experiments – Introduction to Factorials</vt:lpstr>
      <vt:lpstr>Some Basic Definitions</vt:lpstr>
      <vt:lpstr>The Case of Interaction</vt:lpstr>
      <vt:lpstr>Regression Model &amp; the Associated Response Surface</vt:lpstr>
      <vt:lpstr>The Effect of Interaction on the Response Surface</vt:lpstr>
      <vt:lpstr>Example 5.1: The Battery Life Experiment Text (page 183)</vt:lpstr>
      <vt:lpstr>The General Two-Factor  Factorial Experiment</vt:lpstr>
      <vt:lpstr>PowerPoint Presentation</vt:lpstr>
      <vt:lpstr>Extension of the ANOVA to Factorials (Fixed Effects Case)</vt:lpstr>
      <vt:lpstr>ANOVA Table – Fixed Effects Case</vt:lpstr>
      <vt:lpstr>PowerPoint Presentation</vt:lpstr>
      <vt:lpstr>Design-Expert Output – Example 5.1</vt:lpstr>
      <vt:lpstr>Residual Analysis – Example 5.1</vt:lpstr>
      <vt:lpstr>Residual Analysis – Example 5.1</vt:lpstr>
      <vt:lpstr>Interaction Plot </vt:lpstr>
    </vt:vector>
  </TitlesOfParts>
  <Company>NIU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 Exp Des For Eng</dc:title>
  <dc:creator>R. Moraga</dc:creator>
  <cp:lastModifiedBy>Reinaldo Moraga</cp:lastModifiedBy>
  <cp:revision>50</cp:revision>
  <dcterms:created xsi:type="dcterms:W3CDTF">2002-08-16T01:39:43Z</dcterms:created>
  <dcterms:modified xsi:type="dcterms:W3CDTF">2022-02-24T23:29:55Z</dcterms:modified>
</cp:coreProperties>
</file>