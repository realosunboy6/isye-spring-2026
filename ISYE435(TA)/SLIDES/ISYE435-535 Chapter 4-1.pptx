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84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3" r:id="rId2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CC"/>
    <a:srgbClr val="808000"/>
    <a:srgbClr val="FF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79" autoAdjust="0"/>
  </p:normalViewPr>
  <p:slideViewPr>
    <p:cSldViewPr>
      <p:cViewPr>
        <p:scale>
          <a:sx n="110" d="100"/>
          <a:sy n="110" d="100"/>
        </p:scale>
        <p:origin x="1224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DF50915-C1A7-4D31-8C2B-4DE32F76A2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04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8445E-7302-47AB-8F29-D67BD367AFC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95" y="5201093"/>
            <a:ext cx="538627" cy="9394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D6D3B1-6875-4457-8B50-86F3518BEB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9A1F6-5E7F-4705-8C94-B9C704C7DC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71D19-ED00-48C1-A6B0-1C04DC1A17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DF9C9-C7EE-4706-8944-8389476B91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8AD0F-F9B0-4CCF-81F1-FF7910D9E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3C2E0-64E9-4821-ACC1-ADA5A13137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29B97F-2D42-42F1-921D-96AE01F952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057BA-2D4C-44CF-862F-8AB860D1B4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22826-8F07-4C46-90B7-7F5CCA77D4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DCD23-6B2D-466C-ABEA-3CB995ADD8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7EB0510-B5E9-48BD-9046-EF94B22E2C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7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183C23-DD81-4E15-BFBA-2990194C5CA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B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0" y="990600"/>
            <a:ext cx="7315200" cy="2590800"/>
          </a:xfrm>
        </p:spPr>
        <p:txBody>
          <a:bodyPr/>
          <a:lstStyle/>
          <a:p>
            <a:r>
              <a:rPr lang="en-US" sz="5400" b="1" dirty="0"/>
              <a:t>Experimental Design For Engineers</a:t>
            </a:r>
            <a:r>
              <a:rPr lang="en-US" dirty="0"/>
              <a:t> 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US" sz="3600" b="1" dirty="0" smtClean="0"/>
              <a:t>ISYE435-535</a:t>
            </a:r>
            <a:endParaRPr 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b="1" dirty="0"/>
              <a:t>The Blocking Principle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524000"/>
            <a:ext cx="9829800" cy="4648200"/>
          </a:xfrm>
        </p:spPr>
        <p:txBody>
          <a:bodyPr/>
          <a:lstStyle/>
          <a:p>
            <a:pPr>
              <a:spcAft>
                <a:spcPct val="10000"/>
              </a:spcAft>
            </a:pPr>
            <a:r>
              <a:rPr lang="en-US" sz="3600" b="1" dirty="0">
                <a:solidFill>
                  <a:schemeClr val="accent2"/>
                </a:solidFill>
              </a:rPr>
              <a:t>Blocking</a:t>
            </a:r>
            <a:r>
              <a:rPr lang="en-US" sz="3600" dirty="0"/>
              <a:t> is a technique for dealing with </a:t>
            </a:r>
            <a:r>
              <a:rPr lang="en-US" sz="3600" b="1" dirty="0">
                <a:solidFill>
                  <a:schemeClr val="accent2"/>
                </a:solidFill>
              </a:rPr>
              <a:t>nuisance</a:t>
            </a:r>
            <a:r>
              <a:rPr lang="en-US" sz="3600" dirty="0">
                <a:solidFill>
                  <a:schemeClr val="accent2"/>
                </a:solidFill>
              </a:rPr>
              <a:t> </a:t>
            </a:r>
            <a:r>
              <a:rPr lang="en-US" sz="3600" b="1" dirty="0">
                <a:solidFill>
                  <a:schemeClr val="accent2"/>
                </a:solidFill>
              </a:rPr>
              <a:t>factors.</a:t>
            </a:r>
            <a:endParaRPr lang="en-US" sz="3600" dirty="0"/>
          </a:p>
          <a:p>
            <a:pPr>
              <a:spcAft>
                <a:spcPct val="10000"/>
              </a:spcAft>
            </a:pPr>
            <a:r>
              <a:rPr lang="en-US" sz="3600" dirty="0"/>
              <a:t>A </a:t>
            </a:r>
            <a:r>
              <a:rPr lang="en-US" sz="3600" b="1" dirty="0">
                <a:solidFill>
                  <a:schemeClr val="accent2"/>
                </a:solidFill>
              </a:rPr>
              <a:t>nuisance </a:t>
            </a:r>
            <a:r>
              <a:rPr lang="en-US" sz="3600" dirty="0"/>
              <a:t>factor is a factor that probably has some effect on the response, but it’s of no interest to the experimenter…however, the variability it transmits to the response needs to be minimized.</a:t>
            </a:r>
          </a:p>
        </p:txBody>
      </p:sp>
    </p:spTree>
    <p:extLst>
      <p:ext uri="{BB962C8B-B14F-4D97-AF65-F5344CB8AC3E}">
        <p14:creationId xmlns:p14="http://schemas.microsoft.com/office/powerpoint/2010/main" val="243687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b="1"/>
              <a:t>The Blocking Principle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524000"/>
            <a:ext cx="9525000" cy="4648200"/>
          </a:xfrm>
        </p:spPr>
        <p:txBody>
          <a:bodyPr/>
          <a:lstStyle/>
          <a:p>
            <a:pPr>
              <a:spcAft>
                <a:spcPct val="10000"/>
              </a:spcAft>
            </a:pPr>
            <a:r>
              <a:rPr lang="en-US" sz="3600" dirty="0"/>
              <a:t>Typical nuisance factors include batches of raw material, operators, pieces of test equipment, time (shifts, days, etc.), different experimental units.</a:t>
            </a:r>
          </a:p>
          <a:p>
            <a:pPr>
              <a:spcAft>
                <a:spcPct val="10000"/>
              </a:spcAft>
            </a:pPr>
            <a:r>
              <a:rPr lang="en-US" sz="3600" b="1" dirty="0">
                <a:solidFill>
                  <a:schemeClr val="accent2"/>
                </a:solidFill>
              </a:rPr>
              <a:t>Many</a:t>
            </a:r>
            <a:r>
              <a:rPr lang="en-US" sz="3600" dirty="0"/>
              <a:t> industrial experiments involve blocking (or should)</a:t>
            </a:r>
          </a:p>
        </p:txBody>
      </p:sp>
    </p:spTree>
    <p:extLst>
      <p:ext uri="{BB962C8B-B14F-4D97-AF65-F5344CB8AC3E}">
        <p14:creationId xmlns:p14="http://schemas.microsoft.com/office/powerpoint/2010/main" val="392609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b="1"/>
              <a:t>The Blocking Principle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4038600"/>
            <a:ext cx="8839200" cy="2057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3600" dirty="0"/>
              <a:t>Failure to block is a common flaw in designing an experiment (consequences?)</a:t>
            </a:r>
          </a:p>
        </p:txBody>
      </p:sp>
      <p:pic>
        <p:nvPicPr>
          <p:cNvPr id="190470" name="Picture 6" descr="MCj0431529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295400"/>
            <a:ext cx="2286000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861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b="1"/>
              <a:t>The Blocking Principle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4267200"/>
            <a:ext cx="9525000" cy="19050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3600" dirty="0"/>
              <a:t>If the nuisance variable is </a:t>
            </a:r>
            <a:r>
              <a:rPr lang="en-US" sz="3600" b="1" dirty="0">
                <a:solidFill>
                  <a:schemeClr val="accent2"/>
                </a:solidFill>
              </a:rPr>
              <a:t>known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chemeClr val="accent2"/>
                </a:solidFill>
              </a:rPr>
              <a:t>controllable</a:t>
            </a:r>
            <a:r>
              <a:rPr lang="en-US" sz="3600" dirty="0"/>
              <a:t>, we use </a:t>
            </a:r>
            <a:r>
              <a:rPr lang="en-US" sz="3600" b="1" dirty="0">
                <a:solidFill>
                  <a:schemeClr val="accent2"/>
                </a:solidFill>
              </a:rPr>
              <a:t>blocking</a:t>
            </a:r>
          </a:p>
        </p:txBody>
      </p:sp>
      <p:pic>
        <p:nvPicPr>
          <p:cNvPr id="191502" name="Picture 14" descr="C:\Documents and Settings\moraga\Local Settings\Temporary Internet Files\Content.IE5\PR3906RS\MCj0250535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97114" y="1066800"/>
            <a:ext cx="2694286" cy="2667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083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524000"/>
            <a:ext cx="9525000" cy="5029200"/>
          </a:xfrm>
        </p:spPr>
        <p:txBody>
          <a:bodyPr/>
          <a:lstStyle/>
          <a:p>
            <a:pPr>
              <a:spcAft>
                <a:spcPct val="10000"/>
              </a:spcAft>
            </a:pPr>
            <a:r>
              <a:rPr lang="en-US" sz="3600" dirty="0"/>
              <a:t>If the nuisance factor is </a:t>
            </a:r>
            <a:r>
              <a:rPr lang="en-US" sz="3600" b="1" dirty="0">
                <a:solidFill>
                  <a:schemeClr val="accent2"/>
                </a:solidFill>
              </a:rPr>
              <a:t>known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chemeClr val="accent2"/>
                </a:solidFill>
              </a:rPr>
              <a:t>uncontrollable</a:t>
            </a:r>
            <a:r>
              <a:rPr lang="en-US" sz="3600" dirty="0"/>
              <a:t>, sometimes we can use the </a:t>
            </a:r>
            <a:r>
              <a:rPr lang="en-US" sz="3600" b="1" dirty="0">
                <a:solidFill>
                  <a:schemeClr val="accent2"/>
                </a:solidFill>
              </a:rPr>
              <a:t>analysis of covariance</a:t>
            </a:r>
            <a:r>
              <a:rPr lang="en-US" sz="3600" dirty="0"/>
              <a:t> to remove the effect of the nuisance factor from the analysis.</a:t>
            </a:r>
          </a:p>
          <a:p>
            <a:pPr>
              <a:spcAft>
                <a:spcPct val="10000"/>
              </a:spcAft>
            </a:pPr>
            <a:r>
              <a:rPr lang="en-US" sz="3600" dirty="0"/>
              <a:t>If the nuisance factor is </a:t>
            </a:r>
            <a:r>
              <a:rPr lang="en-US" sz="3600" b="1" dirty="0">
                <a:solidFill>
                  <a:schemeClr val="accent2"/>
                </a:solidFill>
              </a:rPr>
              <a:t>unknown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chemeClr val="accent2"/>
                </a:solidFill>
              </a:rPr>
              <a:t>uncontrollable</a:t>
            </a:r>
            <a:r>
              <a:rPr lang="en-US" sz="3600" dirty="0"/>
              <a:t> (a </a:t>
            </a:r>
            <a:r>
              <a:rPr lang="en-US" sz="3600" b="1" dirty="0">
                <a:solidFill>
                  <a:schemeClr val="accent2"/>
                </a:solidFill>
              </a:rPr>
              <a:t>“lurking” variable</a:t>
            </a:r>
            <a:r>
              <a:rPr lang="en-US" sz="3600" b="1" dirty="0"/>
              <a:t>)</a:t>
            </a:r>
            <a:r>
              <a:rPr lang="en-US" sz="3600" dirty="0"/>
              <a:t>, we hope that </a:t>
            </a:r>
            <a:r>
              <a:rPr lang="en-US" sz="3600" b="1" dirty="0">
                <a:solidFill>
                  <a:schemeClr val="accent2"/>
                </a:solidFill>
              </a:rPr>
              <a:t>randomization</a:t>
            </a:r>
            <a:r>
              <a:rPr lang="en-US" sz="3600" dirty="0"/>
              <a:t> balances out its impact across the experiment.</a:t>
            </a:r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  <a:noFill/>
          <a:ln/>
        </p:spPr>
        <p:txBody>
          <a:bodyPr/>
          <a:lstStyle/>
          <a:p>
            <a:r>
              <a:rPr lang="en-US" b="1"/>
              <a:t>The Blocking Principle</a:t>
            </a:r>
          </a:p>
        </p:txBody>
      </p:sp>
    </p:spTree>
    <p:extLst>
      <p:ext uri="{BB962C8B-B14F-4D97-AF65-F5344CB8AC3E}">
        <p14:creationId xmlns:p14="http://schemas.microsoft.com/office/powerpoint/2010/main" val="30755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4000" b="1"/>
              <a:t>The Hardness Testing Example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658178"/>
            <a:ext cx="9753600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Determine whether 4 different tips produce different (mean) hardness reading on a Rockwell hardness tester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Assignment of the tips to an </a:t>
            </a:r>
            <a:r>
              <a:rPr lang="en-US" sz="2800" b="1" dirty="0">
                <a:solidFill>
                  <a:schemeClr val="accent2"/>
                </a:solidFill>
              </a:rPr>
              <a:t>experimental unit</a:t>
            </a:r>
            <a:r>
              <a:rPr lang="en-US" sz="2800" dirty="0"/>
              <a:t>; that is, a test coupon.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Structure of a completely randomized experiment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The test coupons are a source of </a:t>
            </a:r>
            <a:r>
              <a:rPr lang="en-US" sz="2800" b="1" dirty="0">
                <a:solidFill>
                  <a:schemeClr val="accent2"/>
                </a:solidFill>
              </a:rPr>
              <a:t>nuisance variability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Alternatively, the experimenter may want to test the tips across coupons of various hardness levels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The need for blocking</a:t>
            </a:r>
          </a:p>
        </p:txBody>
      </p:sp>
    </p:spTree>
    <p:extLst>
      <p:ext uri="{BB962C8B-B14F-4D97-AF65-F5344CB8AC3E}">
        <p14:creationId xmlns:p14="http://schemas.microsoft.com/office/powerpoint/2010/main" val="357632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sz="4000" b="1"/>
              <a:t>The Hardness Testing Example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219200"/>
            <a:ext cx="90678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600" dirty="0"/>
              <a:t>Suppose that we use </a:t>
            </a:r>
            <a:r>
              <a:rPr lang="en-US" sz="2600" i="1" dirty="0"/>
              <a:t>b</a:t>
            </a:r>
            <a:r>
              <a:rPr lang="en-US" sz="2600" dirty="0"/>
              <a:t> = 4 blocks:</a:t>
            </a:r>
          </a:p>
          <a:p>
            <a:pPr>
              <a:lnSpc>
                <a:spcPct val="90000"/>
              </a:lnSpc>
            </a:pPr>
            <a:endParaRPr lang="en-US" sz="2600" dirty="0"/>
          </a:p>
          <a:p>
            <a:pPr>
              <a:lnSpc>
                <a:spcPct val="90000"/>
              </a:lnSpc>
            </a:pPr>
            <a:endParaRPr lang="en-US" sz="2600" dirty="0"/>
          </a:p>
          <a:p>
            <a:pPr>
              <a:lnSpc>
                <a:spcPct val="90000"/>
              </a:lnSpc>
            </a:pPr>
            <a:endParaRPr lang="en-US" sz="2600" dirty="0"/>
          </a:p>
          <a:p>
            <a:pPr>
              <a:lnSpc>
                <a:spcPct val="90000"/>
              </a:lnSpc>
            </a:pPr>
            <a:endParaRPr lang="en-US" sz="2600" dirty="0"/>
          </a:p>
          <a:p>
            <a:pPr>
              <a:lnSpc>
                <a:spcPct val="90000"/>
              </a:lnSpc>
            </a:pPr>
            <a:endParaRPr lang="en-US" sz="2600" dirty="0"/>
          </a:p>
          <a:p>
            <a:pPr>
              <a:lnSpc>
                <a:spcPct val="90000"/>
              </a:lnSpc>
            </a:pPr>
            <a:endParaRPr lang="en-US" sz="2600" dirty="0"/>
          </a:p>
          <a:p>
            <a:pPr>
              <a:lnSpc>
                <a:spcPct val="90000"/>
              </a:lnSpc>
            </a:pPr>
            <a:endParaRPr lang="en-US" sz="2600" dirty="0"/>
          </a:p>
          <a:p>
            <a:pPr>
              <a:lnSpc>
                <a:spcPct val="90000"/>
              </a:lnSpc>
            </a:pPr>
            <a:r>
              <a:rPr lang="en-US" sz="2600" dirty="0"/>
              <a:t>Notice the </a:t>
            </a:r>
            <a:r>
              <a:rPr lang="en-US" sz="2600" b="1" dirty="0">
                <a:solidFill>
                  <a:schemeClr val="accent2"/>
                </a:solidFill>
              </a:rPr>
              <a:t>two-way structure</a:t>
            </a:r>
            <a:r>
              <a:rPr lang="en-US" sz="2600" dirty="0"/>
              <a:t> of the experiment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Once again, we are interested in testing the equality of treatment means, but now we have to remove the variability associated with the nuisance factor (the blocks)</a:t>
            </a:r>
          </a:p>
        </p:txBody>
      </p:sp>
      <p:pic>
        <p:nvPicPr>
          <p:cNvPr id="1495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1676400"/>
            <a:ext cx="60198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1430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3600" b="1"/>
              <a:t>Extension of the ANOVA to the RCBD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470819"/>
            <a:ext cx="9067800" cy="4114800"/>
          </a:xfrm>
        </p:spPr>
        <p:txBody>
          <a:bodyPr/>
          <a:lstStyle/>
          <a:p>
            <a:r>
              <a:rPr lang="en-US" sz="2800" dirty="0"/>
              <a:t>Suppose that there are </a:t>
            </a:r>
            <a:r>
              <a:rPr lang="en-US" sz="2800" i="1" dirty="0"/>
              <a:t>a </a:t>
            </a:r>
            <a:r>
              <a:rPr lang="en-US" sz="2800" dirty="0"/>
              <a:t>treatments (factor levels) and </a:t>
            </a:r>
            <a:r>
              <a:rPr lang="en-US" sz="2800" i="1" dirty="0"/>
              <a:t>b</a:t>
            </a:r>
            <a:r>
              <a:rPr lang="en-US" sz="2800" dirty="0"/>
              <a:t> blocks</a:t>
            </a:r>
          </a:p>
          <a:p>
            <a:r>
              <a:rPr lang="en-US" sz="2800" dirty="0"/>
              <a:t>A </a:t>
            </a:r>
            <a:r>
              <a:rPr lang="en-US" sz="2800" b="1" dirty="0">
                <a:solidFill>
                  <a:schemeClr val="accent2"/>
                </a:solidFill>
              </a:rPr>
              <a:t>statistical model</a:t>
            </a:r>
            <a:r>
              <a:rPr lang="en-US" sz="2800" dirty="0"/>
              <a:t> (effects model) for the RCBD is  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relevant (fixed effects) hypotheses are </a:t>
            </a:r>
          </a:p>
        </p:txBody>
      </p:sp>
      <p:graphicFrame>
        <p:nvGraphicFramePr>
          <p:cNvPr id="150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813871"/>
              </p:ext>
            </p:extLst>
          </p:nvPr>
        </p:nvGraphicFramePr>
        <p:xfrm>
          <a:off x="3505200" y="3148012"/>
          <a:ext cx="47244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4" name="Equation" r:id="rId3" imgW="2070000" imgH="457200" progId="Equation.DSMT4">
                  <p:embed/>
                </p:oleObj>
              </mc:Choice>
              <mc:Fallback>
                <p:oleObj name="Equation" r:id="rId3" imgW="2070000" imgH="457200" progId="Equation.DSMT4">
                  <p:embed/>
                  <p:pic>
                    <p:nvPicPr>
                      <p:cNvPr id="150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148012"/>
                        <a:ext cx="4724400" cy="104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921065"/>
              </p:ext>
            </p:extLst>
          </p:nvPr>
        </p:nvGraphicFramePr>
        <p:xfrm>
          <a:off x="2286000" y="5178425"/>
          <a:ext cx="79248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5" name="Equation" r:id="rId5" imgW="3936960" imgH="304560" progId="Equation.DSMT4">
                  <p:embed/>
                </p:oleObj>
              </mc:Choice>
              <mc:Fallback>
                <p:oleObj name="Equation" r:id="rId5" imgW="3936960" imgH="304560" progId="Equation.DSMT4">
                  <p:embed/>
                  <p:pic>
                    <p:nvPicPr>
                      <p:cNvPr id="150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78425"/>
                        <a:ext cx="792480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607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sz="3600" b="1"/>
              <a:t>Extension of the ANOVA to the RCBD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ANOVA partitioning of total variability:</a:t>
            </a:r>
          </a:p>
        </p:txBody>
      </p:sp>
      <p:graphicFrame>
        <p:nvGraphicFramePr>
          <p:cNvPr id="151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448390"/>
              </p:ext>
            </p:extLst>
          </p:nvPr>
        </p:nvGraphicFramePr>
        <p:xfrm>
          <a:off x="2971800" y="2151546"/>
          <a:ext cx="6705600" cy="422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5" name="Equation" r:id="rId3" imgW="2984400" imgH="1879560" progId="Equation.DSMT4">
                  <p:embed/>
                </p:oleObj>
              </mc:Choice>
              <mc:Fallback>
                <p:oleObj name="Equation" r:id="rId3" imgW="2984400" imgH="1879560" progId="Equation.DSMT4">
                  <p:embed/>
                  <p:pic>
                    <p:nvPicPr>
                      <p:cNvPr id="151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51546"/>
                        <a:ext cx="6705600" cy="422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457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8839200" cy="4953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 smtClean="0"/>
              <a:t>The </a:t>
            </a:r>
            <a:r>
              <a:rPr lang="en-US" sz="2400" dirty="0"/>
              <a:t>degrees of freedom for the sums of squares in 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   </a:t>
            </a:r>
            <a:endParaRPr lang="en-US" sz="24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 smtClean="0"/>
              <a:t>	are </a:t>
            </a:r>
            <a:r>
              <a:rPr lang="en-US" sz="2400" dirty="0"/>
              <a:t>as follows: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   </a:t>
            </a:r>
            <a:endParaRPr lang="en-US" sz="24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 smtClean="0"/>
              <a:t>Therefore</a:t>
            </a:r>
            <a:r>
              <a:rPr lang="en-US" sz="2400" dirty="0"/>
              <a:t>, ratios of sums of squares to their degrees  of freedom result in mean squares and the ratio of the mean square for treatments to the error mean square is an </a:t>
            </a:r>
            <a:r>
              <a:rPr lang="en-US" sz="2400" i="1" dirty="0"/>
              <a:t>F</a:t>
            </a:r>
            <a:r>
              <a:rPr lang="en-US" sz="2400" dirty="0"/>
              <a:t> statistic that can be used to test the hypothesis of equal treatment means</a:t>
            </a:r>
          </a:p>
        </p:txBody>
      </p:sp>
      <p:graphicFrame>
        <p:nvGraphicFramePr>
          <p:cNvPr id="152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111552"/>
              </p:ext>
            </p:extLst>
          </p:nvPr>
        </p:nvGraphicFramePr>
        <p:xfrm>
          <a:off x="3124200" y="2005012"/>
          <a:ext cx="556260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2" name="Equation" r:id="rId3" imgW="1917360" imgH="228600" progId="Equation.DSMT4">
                  <p:embed/>
                </p:oleObj>
              </mc:Choice>
              <mc:Fallback>
                <p:oleObj name="Equation" r:id="rId3" imgW="1917360" imgH="228600" progId="Equation.DSMT4">
                  <p:embed/>
                  <p:pic>
                    <p:nvPicPr>
                      <p:cNvPr id="1525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005012"/>
                        <a:ext cx="5562600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0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sz="3600" b="1"/>
              <a:t>Extension of the ANOVA to the RCBD</a:t>
            </a:r>
          </a:p>
        </p:txBody>
      </p:sp>
      <p:graphicFrame>
        <p:nvGraphicFramePr>
          <p:cNvPr id="152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922646"/>
              </p:ext>
            </p:extLst>
          </p:nvPr>
        </p:nvGraphicFramePr>
        <p:xfrm>
          <a:off x="3352800" y="3652837"/>
          <a:ext cx="54102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3" name="Equation" r:id="rId5" imgW="2044440" imgH="203040" progId="Equation.DSMT4">
                  <p:embed/>
                </p:oleObj>
              </mc:Choice>
              <mc:Fallback>
                <p:oleObj name="Equation" r:id="rId5" imgW="2044440" imgH="203040" progId="Equation.DSMT4">
                  <p:embed/>
                  <p:pic>
                    <p:nvPicPr>
                      <p:cNvPr id="152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652837"/>
                        <a:ext cx="54102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3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1143000"/>
          </a:xfrm>
        </p:spPr>
        <p:txBody>
          <a:bodyPr/>
          <a:lstStyle/>
          <a:p>
            <a:r>
              <a:rPr lang="en-US" sz="4000" b="1" dirty="0"/>
              <a:t>ANOVA Display for the RCBD</a:t>
            </a:r>
          </a:p>
        </p:txBody>
      </p:sp>
      <p:pic>
        <p:nvPicPr>
          <p:cNvPr id="1536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1" y="1600201"/>
            <a:ext cx="85629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9334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8" name="Picture 6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 r="4742"/>
          <a:stretch>
            <a:fillRect/>
          </a:stretch>
        </p:blipFill>
        <p:spPr>
          <a:xfrm>
            <a:off x="1600200" y="2054224"/>
            <a:ext cx="8915401" cy="3127376"/>
          </a:xfrm>
          <a:noFill/>
          <a:ln/>
        </p:spPr>
      </p:pic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2057400" y="609601"/>
            <a:ext cx="7543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600" b="1" dirty="0">
                <a:solidFill>
                  <a:srgbClr val="808000"/>
                </a:solidFill>
              </a:rPr>
              <a:t>Manual computing (ugh!)…</a:t>
            </a:r>
          </a:p>
          <a:p>
            <a:pPr eaLnBrk="0" hangingPunct="0">
              <a:spcBef>
                <a:spcPct val="50000"/>
              </a:spcBef>
            </a:pPr>
            <a:endParaRPr lang="en-US" dirty="0"/>
          </a:p>
          <a:p>
            <a:pPr eaLnBrk="0" hangingPunct="0">
              <a:spcBef>
                <a:spcPct val="50000"/>
              </a:spcBef>
            </a:pPr>
            <a:endParaRPr lang="en-US" dirty="0"/>
          </a:p>
          <a:p>
            <a:pPr eaLnBrk="0" hangingPunct="0">
              <a:spcBef>
                <a:spcPct val="50000"/>
              </a:spcBef>
            </a:pPr>
            <a:endParaRPr lang="en-US" dirty="0"/>
          </a:p>
          <a:p>
            <a:pPr eaLnBrk="0" hangingPunct="0">
              <a:spcBef>
                <a:spcPct val="50000"/>
              </a:spcBef>
            </a:pPr>
            <a:endParaRPr lang="en-US" dirty="0"/>
          </a:p>
          <a:p>
            <a:pPr eaLnBrk="0" hangingPunct="0">
              <a:spcBef>
                <a:spcPct val="50000"/>
              </a:spcBef>
            </a:pPr>
            <a:endParaRPr lang="en-US" dirty="0"/>
          </a:p>
          <a:p>
            <a:pPr eaLnBrk="0" hangingPunct="0">
              <a:spcBef>
                <a:spcPct val="50000"/>
              </a:spcBef>
            </a:pPr>
            <a:endParaRPr lang="en-US" dirty="0"/>
          </a:p>
          <a:p>
            <a:pPr eaLnBrk="0" hangingPunct="0">
              <a:spcBef>
                <a:spcPct val="50000"/>
              </a:spcBef>
            </a:pPr>
            <a:endParaRPr lang="en-US" dirty="0"/>
          </a:p>
          <a:p>
            <a:pPr eaLnBrk="0" hangingPunct="0">
              <a:spcBef>
                <a:spcPct val="50000"/>
              </a:spcBef>
            </a:pPr>
            <a:endParaRPr lang="en-US" dirty="0"/>
          </a:p>
          <a:p>
            <a:pPr eaLnBrk="0" hangingPunct="0">
              <a:spcBef>
                <a:spcPct val="50000"/>
              </a:spcBef>
            </a:pPr>
            <a:r>
              <a:rPr lang="en-US" dirty="0"/>
              <a:t>Design-Expert analyzes the RCBD</a:t>
            </a:r>
          </a:p>
        </p:txBody>
      </p:sp>
    </p:spTree>
    <p:extLst>
      <p:ext uri="{BB962C8B-B14F-4D97-AF65-F5344CB8AC3E}">
        <p14:creationId xmlns:p14="http://schemas.microsoft.com/office/powerpoint/2010/main" val="252993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3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00200" y="1012826"/>
            <a:ext cx="8915400" cy="3863975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23210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1143000"/>
          </a:xfrm>
        </p:spPr>
        <p:txBody>
          <a:bodyPr/>
          <a:lstStyle/>
          <a:p>
            <a:r>
              <a:rPr lang="en-US" sz="4000" b="1" dirty="0"/>
              <a:t>Vascular Graft Example (pg. </a:t>
            </a:r>
            <a:r>
              <a:rPr lang="en-US" sz="4000" b="1" dirty="0"/>
              <a:t>141)</a:t>
            </a:r>
            <a:endParaRPr lang="en-US" sz="4000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610600" cy="1676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To conduct this experiment as a RCBD, assign all 4 pressures to each of the 6 batches of resin</a:t>
            </a:r>
          </a:p>
          <a:p>
            <a:pPr>
              <a:lnSpc>
                <a:spcPct val="80000"/>
              </a:lnSpc>
            </a:pPr>
            <a:r>
              <a:rPr lang="en-US" sz="2800"/>
              <a:t>Each batch of resin is called a “</a:t>
            </a:r>
            <a:r>
              <a:rPr lang="en-US" sz="2800" b="1">
                <a:solidFill>
                  <a:schemeClr val="accent2"/>
                </a:solidFill>
              </a:rPr>
              <a:t>block</a:t>
            </a:r>
            <a:r>
              <a:rPr lang="en-US" sz="2800"/>
              <a:t>”; that is, it’s a more homogenous experimental unit on which to test the extrusion pressures</a:t>
            </a:r>
          </a:p>
          <a:p>
            <a:pPr>
              <a:lnSpc>
                <a:spcPct val="80000"/>
              </a:lnSpc>
            </a:pPr>
            <a:endParaRPr lang="en-US" sz="2800" b="1">
              <a:solidFill>
                <a:schemeClr val="accent2"/>
              </a:solidFill>
            </a:endParaRPr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276600"/>
            <a:ext cx="7848600" cy="274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2534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57400" y="1838326"/>
            <a:ext cx="7772400" cy="30273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86714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762000"/>
          </a:xfrm>
        </p:spPr>
        <p:txBody>
          <a:bodyPr/>
          <a:lstStyle/>
          <a:p>
            <a:r>
              <a:rPr lang="en-US" sz="3600" b="1"/>
              <a:t>Vascular Graft Example </a:t>
            </a:r>
            <a:br>
              <a:rPr lang="en-US" sz="3600" b="1"/>
            </a:br>
            <a:r>
              <a:rPr lang="en-US" sz="1800" b="1"/>
              <a:t>Design-Expert Output</a:t>
            </a:r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752600"/>
            <a:ext cx="7391400" cy="36639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2194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3600" b="1"/>
              <a:t>Residual Analysis for the </a:t>
            </a:r>
            <a:br>
              <a:rPr lang="en-US" sz="3600" b="1"/>
            </a:br>
            <a:r>
              <a:rPr lang="en-US" sz="3600" b="1"/>
              <a:t> Vascular Graft Example </a:t>
            </a:r>
          </a:p>
        </p:txBody>
      </p:sp>
      <p:pic>
        <p:nvPicPr>
          <p:cNvPr id="14342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90800" y="1600200"/>
            <a:ext cx="6934200" cy="455930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92139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sz="3600" b="1"/>
              <a:t>Residual Analysis for the </a:t>
            </a:r>
            <a:br>
              <a:rPr lang="en-US" sz="3600" b="1"/>
            </a:br>
            <a:r>
              <a:rPr lang="en-US" sz="3600" b="1"/>
              <a:t> Vascular Graft Example </a:t>
            </a:r>
          </a:p>
        </p:txBody>
      </p:sp>
      <p:pic>
        <p:nvPicPr>
          <p:cNvPr id="15368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819400" y="1524000"/>
            <a:ext cx="6781800" cy="4516438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56704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Residual Analysis for the </a:t>
            </a:r>
            <a:br>
              <a:rPr lang="en-US" sz="3600" b="1"/>
            </a:br>
            <a:r>
              <a:rPr lang="en-US" sz="3600" b="1"/>
              <a:t> Vascular Graft Example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Basic residual plots indicate that </a:t>
            </a:r>
            <a:r>
              <a:rPr lang="en-US" sz="2800" b="1">
                <a:solidFill>
                  <a:schemeClr val="accent2"/>
                </a:solidFill>
              </a:rPr>
              <a:t>normality</a:t>
            </a:r>
            <a:r>
              <a:rPr lang="en-US" sz="2800"/>
              <a:t>, </a:t>
            </a:r>
            <a:r>
              <a:rPr lang="en-US" sz="2800" b="1">
                <a:solidFill>
                  <a:schemeClr val="accent2"/>
                </a:solidFill>
              </a:rPr>
              <a:t>constant variance</a:t>
            </a:r>
            <a:r>
              <a:rPr lang="en-US" sz="2800"/>
              <a:t> assumptions are satisfied</a:t>
            </a:r>
          </a:p>
          <a:p>
            <a:r>
              <a:rPr lang="en-US" sz="2800"/>
              <a:t>No obvious problems with </a:t>
            </a:r>
            <a:r>
              <a:rPr lang="en-US" sz="2800" b="1">
                <a:solidFill>
                  <a:schemeClr val="accent2"/>
                </a:solidFill>
              </a:rPr>
              <a:t>randomization</a:t>
            </a:r>
          </a:p>
          <a:p>
            <a:r>
              <a:rPr lang="en-US" sz="2800" b="1">
                <a:solidFill>
                  <a:schemeClr val="accent2"/>
                </a:solidFill>
              </a:rPr>
              <a:t>No patterns </a:t>
            </a:r>
            <a:r>
              <a:rPr lang="en-US" sz="2800" b="1"/>
              <a:t>in the</a:t>
            </a:r>
            <a:r>
              <a:rPr lang="en-US" sz="2800" b="1">
                <a:solidFill>
                  <a:schemeClr val="accent2"/>
                </a:solidFill>
              </a:rPr>
              <a:t> residuals vs. block</a:t>
            </a:r>
          </a:p>
          <a:p>
            <a:r>
              <a:rPr lang="en-US" sz="2800"/>
              <a:t>Can also plot residuals versus the pressure (residuals by factor) </a:t>
            </a:r>
          </a:p>
          <a:p>
            <a:r>
              <a:rPr lang="en-US" sz="2800"/>
              <a:t>These plots provide more information about the constant variance assumption, possible outliers</a:t>
            </a:r>
          </a:p>
        </p:txBody>
      </p:sp>
    </p:spTree>
    <p:extLst>
      <p:ext uri="{BB962C8B-B14F-4D97-AF65-F5344CB8AC3E}">
        <p14:creationId xmlns:p14="http://schemas.microsoft.com/office/powerpoint/2010/main" val="159487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305800" cy="1143000"/>
          </a:xfrm>
        </p:spPr>
        <p:txBody>
          <a:bodyPr/>
          <a:lstStyle/>
          <a:p>
            <a:r>
              <a:rPr lang="en-US" sz="3200" b="1"/>
              <a:t>Multiple Comparisons for the Vascular Graft Example – Which Pressure is Different?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343400" y="5638800"/>
            <a:ext cx="381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Also see Figure 4.3, Pg. </a:t>
            </a:r>
            <a:r>
              <a:rPr lang="en-US" dirty="0" smtClean="0"/>
              <a:t>144</a:t>
            </a:r>
            <a:endParaRPr lang="en-US" dirty="0"/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5014" y="1600200"/>
            <a:ext cx="8181975" cy="36576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2973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532</Words>
  <Application>Microsoft Office PowerPoint</Application>
  <PresentationFormat>Widescreen</PresentationFormat>
  <Paragraphs>77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Times New Roman</vt:lpstr>
      <vt:lpstr>Default Design</vt:lpstr>
      <vt:lpstr>Equation</vt:lpstr>
      <vt:lpstr>Experimental Design For Engineers </vt:lpstr>
      <vt:lpstr>The Blocking Principle</vt:lpstr>
      <vt:lpstr>The Blocking Principle</vt:lpstr>
      <vt:lpstr>The Blocking Principle</vt:lpstr>
      <vt:lpstr>The Blocking Principle</vt:lpstr>
      <vt:lpstr>The Blocking Principle</vt:lpstr>
      <vt:lpstr>The Hardness Testing Example</vt:lpstr>
      <vt:lpstr>The Hardness Testing Example</vt:lpstr>
      <vt:lpstr>Extension of the ANOVA to the RCBD</vt:lpstr>
      <vt:lpstr>Extension of the ANOVA to the RCBD</vt:lpstr>
      <vt:lpstr>Extension of the ANOVA to the RCBD</vt:lpstr>
      <vt:lpstr>ANOVA Display for the RCBD</vt:lpstr>
      <vt:lpstr>PowerPoint Presentation</vt:lpstr>
      <vt:lpstr>PowerPoint Presentation</vt:lpstr>
      <vt:lpstr>Vascular Graft Example (pg. 141)</vt:lpstr>
      <vt:lpstr>PowerPoint Presentation</vt:lpstr>
      <vt:lpstr>Vascular Graft Example  Design-Expert Output</vt:lpstr>
      <vt:lpstr>Residual Analysis for the   Vascular Graft Example </vt:lpstr>
      <vt:lpstr>Residual Analysis for the   Vascular Graft Example </vt:lpstr>
      <vt:lpstr>Residual Analysis for the   Vascular Graft Example </vt:lpstr>
      <vt:lpstr>Multiple Comparisons for the Vascular Graft Example – Which Pressure is Different?</vt:lpstr>
    </vt:vector>
  </TitlesOfParts>
  <Company>NIU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 Exp Des For Eng</dc:title>
  <dc:creator>R. Moraga</dc:creator>
  <cp:lastModifiedBy>Reinaldo Moraga</cp:lastModifiedBy>
  <cp:revision>44</cp:revision>
  <dcterms:created xsi:type="dcterms:W3CDTF">2002-08-16T01:39:43Z</dcterms:created>
  <dcterms:modified xsi:type="dcterms:W3CDTF">2022-02-14T16:22:01Z</dcterms:modified>
</cp:coreProperties>
</file>