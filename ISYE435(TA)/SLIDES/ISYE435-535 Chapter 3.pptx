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360" r:id="rId3"/>
    <p:sldId id="361" r:id="rId4"/>
    <p:sldId id="362" r:id="rId5"/>
    <p:sldId id="363" r:id="rId6"/>
    <p:sldId id="364" r:id="rId7"/>
    <p:sldId id="365" r:id="rId8"/>
    <p:sldId id="366" r:id="rId9"/>
    <p:sldId id="367" r:id="rId10"/>
    <p:sldId id="368" r:id="rId11"/>
    <p:sldId id="369" r:id="rId12"/>
    <p:sldId id="370" r:id="rId13"/>
    <p:sldId id="371" r:id="rId14"/>
    <p:sldId id="372" r:id="rId15"/>
    <p:sldId id="373" r:id="rId16"/>
    <p:sldId id="374" r:id="rId17"/>
    <p:sldId id="375" r:id="rId18"/>
    <p:sldId id="376" r:id="rId19"/>
    <p:sldId id="377" r:id="rId20"/>
    <p:sldId id="378" r:id="rId21"/>
    <p:sldId id="379" r:id="rId22"/>
    <p:sldId id="380" r:id="rId23"/>
    <p:sldId id="381" r:id="rId24"/>
  </p:sldIdLst>
  <p:sldSz cx="12192000" cy="6858000"/>
  <p:notesSz cx="6858000" cy="9144000"/>
  <p:defaultTextStyle>
    <a:defPPr>
      <a:defRPr lang="en-US"/>
    </a:defPPr>
    <a:lvl1pPr algn="l" rtl="0" fontAlgn="base">
      <a:spcBef>
        <a:spcPct val="0"/>
      </a:spcBef>
      <a:spcAft>
        <a:spcPct val="0"/>
      </a:spcAft>
      <a:defRPr sz="2400" kern="1200">
        <a:solidFill>
          <a:schemeClr val="tx1"/>
        </a:solidFill>
        <a:latin typeface="Times New Roman" pitchFamily="18" charset="0"/>
        <a:ea typeface="+mn-ea"/>
        <a:cs typeface="+mn-cs"/>
      </a:defRPr>
    </a:lvl1pPr>
    <a:lvl2pPr marL="457200" algn="l" rtl="0" fontAlgn="base">
      <a:spcBef>
        <a:spcPct val="0"/>
      </a:spcBef>
      <a:spcAft>
        <a:spcPct val="0"/>
      </a:spcAft>
      <a:defRPr sz="2400" kern="1200">
        <a:solidFill>
          <a:schemeClr val="tx1"/>
        </a:solidFill>
        <a:latin typeface="Times New Roman" pitchFamily="18" charset="0"/>
        <a:ea typeface="+mn-ea"/>
        <a:cs typeface="+mn-cs"/>
      </a:defRPr>
    </a:lvl2pPr>
    <a:lvl3pPr marL="914400" algn="l" rtl="0" fontAlgn="base">
      <a:spcBef>
        <a:spcPct val="0"/>
      </a:spcBef>
      <a:spcAft>
        <a:spcPct val="0"/>
      </a:spcAft>
      <a:defRPr sz="2400" kern="1200">
        <a:solidFill>
          <a:schemeClr val="tx1"/>
        </a:solidFill>
        <a:latin typeface="Times New Roman" pitchFamily="18" charset="0"/>
        <a:ea typeface="+mn-ea"/>
        <a:cs typeface="+mn-cs"/>
      </a:defRPr>
    </a:lvl3pPr>
    <a:lvl4pPr marL="1371600" algn="l" rtl="0" fontAlgn="base">
      <a:spcBef>
        <a:spcPct val="0"/>
      </a:spcBef>
      <a:spcAft>
        <a:spcPct val="0"/>
      </a:spcAft>
      <a:defRPr sz="2400" kern="1200">
        <a:solidFill>
          <a:schemeClr val="tx1"/>
        </a:solidFill>
        <a:latin typeface="Times New Roman" pitchFamily="18" charset="0"/>
        <a:ea typeface="+mn-ea"/>
        <a:cs typeface="+mn-cs"/>
      </a:defRPr>
    </a:lvl4pPr>
    <a:lvl5pPr marL="1828800" algn="l" rtl="0" fontAlgn="base">
      <a:spcBef>
        <a:spcPct val="0"/>
      </a:spcBef>
      <a:spcAft>
        <a:spcPct val="0"/>
      </a:spcAft>
      <a:defRPr sz="2400" kern="1200">
        <a:solidFill>
          <a:schemeClr val="tx1"/>
        </a:solidFill>
        <a:latin typeface="Times New Roman" pitchFamily="18" charset="0"/>
        <a:ea typeface="+mn-ea"/>
        <a:cs typeface="+mn-cs"/>
      </a:defRPr>
    </a:lvl5pPr>
    <a:lvl6pPr marL="2286000" algn="l" defTabSz="914400" rtl="0" eaLnBrk="1" latinLnBrk="0" hangingPunct="1">
      <a:defRPr sz="2400" kern="1200">
        <a:solidFill>
          <a:schemeClr val="tx1"/>
        </a:solidFill>
        <a:latin typeface="Times New Roman" pitchFamily="18" charset="0"/>
        <a:ea typeface="+mn-ea"/>
        <a:cs typeface="+mn-cs"/>
      </a:defRPr>
    </a:lvl6pPr>
    <a:lvl7pPr marL="2743200" algn="l" defTabSz="914400" rtl="0" eaLnBrk="1" latinLnBrk="0" hangingPunct="1">
      <a:defRPr sz="2400" kern="1200">
        <a:solidFill>
          <a:schemeClr val="tx1"/>
        </a:solidFill>
        <a:latin typeface="Times New Roman" pitchFamily="18" charset="0"/>
        <a:ea typeface="+mn-ea"/>
        <a:cs typeface="+mn-cs"/>
      </a:defRPr>
    </a:lvl7pPr>
    <a:lvl8pPr marL="3200400" algn="l" defTabSz="914400" rtl="0" eaLnBrk="1" latinLnBrk="0" hangingPunct="1">
      <a:defRPr sz="2400" kern="1200">
        <a:solidFill>
          <a:schemeClr val="tx1"/>
        </a:solidFill>
        <a:latin typeface="Times New Roman" pitchFamily="18" charset="0"/>
        <a:ea typeface="+mn-ea"/>
        <a:cs typeface="+mn-cs"/>
      </a:defRPr>
    </a:lvl8pPr>
    <a:lvl9pPr marL="3657600" algn="l" defTabSz="914400" rtl="0" eaLnBrk="1" latinLnBrk="0" hangingPunct="1">
      <a:defRPr sz="2400" kern="1200">
        <a:solidFill>
          <a:schemeClr val="tx1"/>
        </a:solidFill>
        <a:latin typeface="Times New Roman" pitchFamily="18"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FFFFCC"/>
    <a:srgbClr val="808000"/>
    <a:srgbClr val="FFFFE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79" autoAdjust="0"/>
  </p:normalViewPr>
  <p:slideViewPr>
    <p:cSldViewPr>
      <p:cViewPr varScale="1">
        <p:scale>
          <a:sx n="129" d="100"/>
          <a:sy n="129" d="100"/>
        </p:scale>
        <p:origin x="490" y="69"/>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66" d="100"/>
        <a:sy n="66"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0.wmf"/><Relationship Id="rId1" Type="http://schemas.openxmlformats.org/officeDocument/2006/relationships/image" Target="../media/image9.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3.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6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lvl1pPr>
          </a:lstStyle>
          <a:p>
            <a:endParaRPr lang="en-US"/>
          </a:p>
        </p:txBody>
      </p:sp>
      <p:sp>
        <p:nvSpPr>
          <p:cNvPr id="29699" name="Rectangle 3"/>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lvl1pPr>
          </a:lstStyle>
          <a:p>
            <a:endParaRPr lang="en-US"/>
          </a:p>
        </p:txBody>
      </p:sp>
      <p:sp>
        <p:nvSpPr>
          <p:cNvPr id="29700"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ffectLst/>
        </p:spPr>
      </p:sp>
      <p:sp>
        <p:nvSpPr>
          <p:cNvPr id="29701" name="Rectangle 5"/>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29702" name="Rectangle 6"/>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lvl1pPr>
          </a:lstStyle>
          <a:p>
            <a:endParaRPr lang="en-US"/>
          </a:p>
        </p:txBody>
      </p:sp>
      <p:sp>
        <p:nvSpPr>
          <p:cNvPr id="29703" name="Rectangle 7"/>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lvl1pPr>
          </a:lstStyle>
          <a:p>
            <a:fld id="{8DF50915-C1A7-4D31-8C2B-4DE32F76A28A}" type="slidenum">
              <a:rPr lang="en-US"/>
              <a:pPr/>
              <a:t>‹#›</a:t>
            </a:fld>
            <a:endParaRPr lang="en-US"/>
          </a:p>
        </p:txBody>
      </p:sp>
    </p:spTree>
    <p:extLst>
      <p:ext uri="{BB962C8B-B14F-4D97-AF65-F5344CB8AC3E}">
        <p14:creationId xmlns:p14="http://schemas.microsoft.com/office/powerpoint/2010/main" val="2099870461"/>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Times New Roman" pitchFamily="18" charset="0"/>
        <a:ea typeface="+mn-ea"/>
        <a:cs typeface="+mn-cs"/>
      </a:defRPr>
    </a:lvl1pPr>
    <a:lvl2pPr marL="457200" algn="l" rtl="0" fontAlgn="base">
      <a:spcBef>
        <a:spcPct val="30000"/>
      </a:spcBef>
      <a:spcAft>
        <a:spcPct val="0"/>
      </a:spcAft>
      <a:defRPr sz="1200" kern="1200">
        <a:solidFill>
          <a:schemeClr val="tx1"/>
        </a:solidFill>
        <a:latin typeface="Times New Roman" pitchFamily="18" charset="0"/>
        <a:ea typeface="+mn-ea"/>
        <a:cs typeface="+mn-cs"/>
      </a:defRPr>
    </a:lvl2pPr>
    <a:lvl3pPr marL="914400" algn="l" rtl="0" fontAlgn="base">
      <a:spcBef>
        <a:spcPct val="30000"/>
      </a:spcBef>
      <a:spcAft>
        <a:spcPct val="0"/>
      </a:spcAft>
      <a:defRPr sz="1200" kern="1200">
        <a:solidFill>
          <a:schemeClr val="tx1"/>
        </a:solidFill>
        <a:latin typeface="Times New Roman" pitchFamily="18" charset="0"/>
        <a:ea typeface="+mn-ea"/>
        <a:cs typeface="+mn-cs"/>
      </a:defRPr>
    </a:lvl3pPr>
    <a:lvl4pPr marL="1371600" algn="l" rtl="0" fontAlgn="base">
      <a:spcBef>
        <a:spcPct val="30000"/>
      </a:spcBef>
      <a:spcAft>
        <a:spcPct val="0"/>
      </a:spcAft>
      <a:defRPr sz="1200" kern="1200">
        <a:solidFill>
          <a:schemeClr val="tx1"/>
        </a:solidFill>
        <a:latin typeface="Times New Roman" pitchFamily="18" charset="0"/>
        <a:ea typeface="+mn-ea"/>
        <a:cs typeface="+mn-cs"/>
      </a:defRPr>
    </a:lvl4pPr>
    <a:lvl5pPr marL="1828800" algn="l" rtl="0" fontAlgn="base">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9BB8445E-7302-47AB-8F29-D67BD367AFCE}" type="slidenum">
              <a:rPr lang="en-US"/>
              <a:pPr/>
              <a:t>‹#›</a:t>
            </a:fld>
            <a:endParaRPr lang="en-US"/>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5775295" y="5201093"/>
            <a:ext cx="538627" cy="939466"/>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ED6D3B1-6875-4457-8B50-86F3518BEB28}"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smtClean="0"/>
              <a:t>Click to edit Master text styles</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1CF9A1F6-5E7F-4705-8C94-B9C704C7DC99}"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981200"/>
            <a:ext cx="508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74C71D19-ED00-48C1-A6B0-1C04DC1A17A7}"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lvl1pPr>
              <a:defRPr/>
            </a:lvl1pPr>
          </a:lstStyle>
          <a:p>
            <a:endParaRPr lang="en-US"/>
          </a:p>
        </p:txBody>
      </p:sp>
      <p:sp>
        <p:nvSpPr>
          <p:cNvPr id="8" name="Footer Placeholder 7"/>
          <p:cNvSpPr>
            <a:spLocks noGrp="1"/>
          </p:cNvSpPr>
          <p:nvPr>
            <p:ph type="ftr" sz="quarter" idx="11"/>
          </p:nvPr>
        </p:nvSpPr>
        <p:spPr/>
        <p:txBody>
          <a:bodyPr/>
          <a:lstStyle>
            <a:lvl1pPr>
              <a:defRPr/>
            </a:lvl1pPr>
          </a:lstStyle>
          <a:p>
            <a:endParaRPr lang="en-US"/>
          </a:p>
        </p:txBody>
      </p:sp>
      <p:sp>
        <p:nvSpPr>
          <p:cNvPr id="9" name="Slide Number Placeholder 8"/>
          <p:cNvSpPr>
            <a:spLocks noGrp="1"/>
          </p:cNvSpPr>
          <p:nvPr>
            <p:ph type="sldNum" sz="quarter" idx="12"/>
          </p:nvPr>
        </p:nvSpPr>
        <p:spPr/>
        <p:txBody>
          <a:bodyPr/>
          <a:lstStyle>
            <a:lvl1pPr>
              <a:defRPr/>
            </a:lvl1pPr>
          </a:lstStyle>
          <a:p>
            <a:fld id="{C63DF9C9-C7EE-4706-8944-8389476B9113}"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lvl1pPr>
              <a:defRPr/>
            </a:lvl1pPr>
          </a:lstStyle>
          <a:p>
            <a:endParaRPr lang="en-US"/>
          </a:p>
        </p:txBody>
      </p:sp>
      <p:sp>
        <p:nvSpPr>
          <p:cNvPr id="4" name="Footer Placeholder 3"/>
          <p:cNvSpPr>
            <a:spLocks noGrp="1"/>
          </p:cNvSpPr>
          <p:nvPr>
            <p:ph type="ftr" sz="quarter" idx="11"/>
          </p:nvPr>
        </p:nvSpPr>
        <p:spPr/>
        <p:txBody>
          <a:bodyPr/>
          <a:lstStyle>
            <a:lvl1pPr>
              <a:defRPr/>
            </a:lvl1pPr>
          </a:lstStyle>
          <a:p>
            <a:endParaRPr lang="en-US"/>
          </a:p>
        </p:txBody>
      </p:sp>
      <p:sp>
        <p:nvSpPr>
          <p:cNvPr id="5" name="Slide Number Placeholder 4"/>
          <p:cNvSpPr>
            <a:spLocks noGrp="1"/>
          </p:cNvSpPr>
          <p:nvPr>
            <p:ph type="sldNum" sz="quarter" idx="12"/>
          </p:nvPr>
        </p:nvSpPr>
        <p:spPr/>
        <p:txBody>
          <a:bodyPr/>
          <a:lstStyle>
            <a:lvl1pPr>
              <a:defRPr/>
            </a:lvl1pPr>
          </a:lstStyle>
          <a:p>
            <a:fld id="{DF28AD0F-F9B0-4CCF-81F1-FF7910D9EDEC}"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endParaRPr lang="en-US"/>
          </a:p>
        </p:txBody>
      </p:sp>
      <p:sp>
        <p:nvSpPr>
          <p:cNvPr id="3" name="Footer Placeholder 2"/>
          <p:cNvSpPr>
            <a:spLocks noGrp="1"/>
          </p:cNvSpPr>
          <p:nvPr>
            <p:ph type="ftr" sz="quarter" idx="11"/>
          </p:nvPr>
        </p:nvSpPr>
        <p:spPr/>
        <p:txBody>
          <a:bodyPr/>
          <a:lstStyle>
            <a:lvl1pPr>
              <a:defRPr/>
            </a:lvl1pPr>
          </a:lstStyle>
          <a:p>
            <a:endParaRPr lang="en-US"/>
          </a:p>
        </p:txBody>
      </p:sp>
      <p:sp>
        <p:nvSpPr>
          <p:cNvPr id="4" name="Slide Number Placeholder 3"/>
          <p:cNvSpPr>
            <a:spLocks noGrp="1"/>
          </p:cNvSpPr>
          <p:nvPr>
            <p:ph type="sldNum" sz="quarter" idx="12"/>
          </p:nvPr>
        </p:nvSpPr>
        <p:spPr/>
        <p:txBody>
          <a:bodyPr/>
          <a:lstStyle>
            <a:lvl1pPr>
              <a:defRPr/>
            </a:lvl1pPr>
          </a:lstStyle>
          <a:p>
            <a:fld id="{ACE3C2E0-64E9-4821-ACC1-ADA5A1313738}"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3029B97F-2D42-42F1-921D-96AE01F95255}"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lvl1pPr>
              <a:defRPr/>
            </a:lvl1pPr>
          </a:lstStyle>
          <a:p>
            <a:endParaRPr lang="en-US"/>
          </a:p>
        </p:txBody>
      </p:sp>
      <p:sp>
        <p:nvSpPr>
          <p:cNvPr id="6" name="Footer Placeholder 5"/>
          <p:cNvSpPr>
            <a:spLocks noGrp="1"/>
          </p:cNvSpPr>
          <p:nvPr>
            <p:ph type="ftr" sz="quarter" idx="11"/>
          </p:nvPr>
        </p:nvSpPr>
        <p:spPr/>
        <p:txBody>
          <a:bodyPr/>
          <a:lstStyle>
            <a:lvl1pPr>
              <a:defRPr/>
            </a:lvl1pPr>
          </a:lstStyle>
          <a:p>
            <a:endParaRPr lang="en-US"/>
          </a:p>
        </p:txBody>
      </p:sp>
      <p:sp>
        <p:nvSpPr>
          <p:cNvPr id="7" name="Slide Number Placeholder 6"/>
          <p:cNvSpPr>
            <a:spLocks noGrp="1"/>
          </p:cNvSpPr>
          <p:nvPr>
            <p:ph type="sldNum" sz="quarter" idx="12"/>
          </p:nvPr>
        </p:nvSpPr>
        <p:spPr/>
        <p:txBody>
          <a:bodyPr/>
          <a:lstStyle>
            <a:lvl1pPr>
              <a:defRPr/>
            </a:lvl1pPr>
          </a:lstStyle>
          <a:p>
            <a:fld id="{5EF057BA-2D4C-44CF-862F-8AB860D1B431}"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31422826-8F07-4C46-90B7-7F5CCA77D412}"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6800" y="609600"/>
            <a:ext cx="2590800" cy="548640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914400" y="609600"/>
            <a:ext cx="7569200" cy="548640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2CCDCD23-6B2D-466C-ABEA-3CB995ADD83F}" type="slidenum">
              <a:rPr lang="en-US"/>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Obj" preserve="1">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9144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981200"/>
            <a:ext cx="5080000" cy="4114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914400" y="6248400"/>
            <a:ext cx="2540000" cy="457200"/>
          </a:xfrm>
        </p:spPr>
        <p:txBody>
          <a:bodyPr/>
          <a:lstStyle>
            <a:lvl1pPr>
              <a:defRPr/>
            </a:lvl1pPr>
          </a:lstStyle>
          <a:p>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540000" cy="457200"/>
          </a:xfrm>
        </p:spPr>
        <p:txBody>
          <a:bodyPr/>
          <a:lstStyle>
            <a:lvl1pPr>
              <a:defRPr/>
            </a:lvl1pPr>
          </a:lstStyle>
          <a:p>
            <a:fld id="{77EB0510-B5E9-48BD-9046-EF94B22E2C11}" type="slidenum">
              <a:rPr lang="en-US"/>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914400" y="609600"/>
            <a:ext cx="10363200" cy="11430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914400" y="1981200"/>
            <a:ext cx="103632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914400" y="4114800"/>
            <a:ext cx="10363200" cy="19812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a:xfrm>
            <a:off x="914400" y="6248400"/>
            <a:ext cx="2540000" cy="457200"/>
          </a:xfrm>
        </p:spPr>
        <p:txBody>
          <a:bodyPr/>
          <a:lstStyle>
            <a:lvl1pPr>
              <a:defRPr/>
            </a:lvl1pPr>
          </a:lstStyle>
          <a:p>
            <a:endParaRPr lang="en-US"/>
          </a:p>
        </p:txBody>
      </p:sp>
      <p:sp>
        <p:nvSpPr>
          <p:cNvPr id="6" name="Footer Placeholder 5"/>
          <p:cNvSpPr>
            <a:spLocks noGrp="1"/>
          </p:cNvSpPr>
          <p:nvPr>
            <p:ph type="ftr" sz="quarter" idx="11"/>
          </p:nvPr>
        </p:nvSpPr>
        <p:spPr>
          <a:xfrm>
            <a:off x="4165600" y="6248400"/>
            <a:ext cx="3860800" cy="457200"/>
          </a:xfrm>
        </p:spPr>
        <p:txBody>
          <a:bodyPr/>
          <a:lstStyle>
            <a:lvl1pPr>
              <a:defRPr/>
            </a:lvl1pPr>
          </a:lstStyle>
          <a:p>
            <a:endParaRPr lang="en-US"/>
          </a:p>
        </p:txBody>
      </p:sp>
      <p:sp>
        <p:nvSpPr>
          <p:cNvPr id="7" name="Slide Number Placeholder 6"/>
          <p:cNvSpPr>
            <a:spLocks noGrp="1"/>
          </p:cNvSpPr>
          <p:nvPr>
            <p:ph type="sldNum" sz="quarter" idx="12"/>
          </p:nvPr>
        </p:nvSpPr>
        <p:spPr>
          <a:xfrm>
            <a:off x="8737600" y="6248400"/>
            <a:ext cx="2540000" cy="457200"/>
          </a:xfrm>
        </p:spPr>
        <p:txBody>
          <a:bodyPr/>
          <a:lstStyle>
            <a:lvl1pPr>
              <a:defRPr/>
            </a:lvl1pPr>
          </a:lstStyle>
          <a:p>
            <a:fld id="{8A369DD9-1FFE-4B92-911C-F360647597E4}" type="slidenum">
              <a:rPr lang="en-US"/>
              <a:pPr/>
              <a:t>‹#›</a:t>
            </a:fld>
            <a:endParaRPr lang="en-US"/>
          </a:p>
        </p:txBody>
      </p:sp>
    </p:spTree>
    <p:extLst>
      <p:ext uri="{BB962C8B-B14F-4D97-AF65-F5344CB8AC3E}">
        <p14:creationId xmlns:p14="http://schemas.microsoft.com/office/powerpoint/2010/main" val="36463217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609600" y="274639"/>
            <a:ext cx="10972800" cy="5851525"/>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extLst>
      <p:ext uri="{BB962C8B-B14F-4D97-AF65-F5344CB8AC3E}">
        <p14:creationId xmlns:p14="http://schemas.microsoft.com/office/powerpoint/2010/main" val="31276755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heme" Target="../theme/theme1.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alpha val="80000"/>
          </a:srgbClr>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914400" y="609600"/>
            <a:ext cx="10363200" cy="1143000"/>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bodyPr>
          <a:lstStyle/>
          <a:p>
            <a:pPr lvl="0"/>
            <a:r>
              <a:rPr lang="en-US" smtClean="0"/>
              <a:t>Click to edit Master title style</a:t>
            </a:r>
          </a:p>
        </p:txBody>
      </p:sp>
      <p:sp>
        <p:nvSpPr>
          <p:cNvPr id="1027" name="Rectangle 3"/>
          <p:cNvSpPr>
            <a:spLocks noGrp="1" noChangeArrowheads="1"/>
          </p:cNvSpPr>
          <p:nvPr>
            <p:ph type="body" idx="1"/>
          </p:nvPr>
        </p:nvSpPr>
        <p:spPr bwMode="auto">
          <a:xfrm>
            <a:off x="914400" y="1981200"/>
            <a:ext cx="10363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p>
        </p:txBody>
      </p:sp>
      <p:sp>
        <p:nvSpPr>
          <p:cNvPr id="1028" name="Rectangle 4"/>
          <p:cNvSpPr>
            <a:spLocks noGrp="1" noChangeArrowheads="1"/>
          </p:cNvSpPr>
          <p:nvPr>
            <p:ph type="dt" sz="half" idx="2"/>
          </p:nvPr>
        </p:nvSpPr>
        <p:spPr bwMode="auto">
          <a:xfrm>
            <a:off x="9144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a:lvl1pPr>
          </a:lstStyle>
          <a:p>
            <a:endParaRPr lang="en-US"/>
          </a:p>
        </p:txBody>
      </p:sp>
      <p:sp>
        <p:nvSpPr>
          <p:cNvPr id="1029"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a:lvl1pPr>
          </a:lstStyle>
          <a:p>
            <a:endParaRPr lang="en-US"/>
          </a:p>
        </p:txBody>
      </p:sp>
      <p:sp>
        <p:nvSpPr>
          <p:cNvPr id="1030" name="Rectangle 6"/>
          <p:cNvSpPr>
            <a:spLocks noGrp="1" noChangeArrowheads="1"/>
          </p:cNvSpPr>
          <p:nvPr>
            <p:ph type="sldNum" sz="quarter" idx="4"/>
          </p:nvPr>
        </p:nvSpPr>
        <p:spPr bwMode="auto">
          <a:xfrm>
            <a:off x="8737600" y="6248400"/>
            <a:ext cx="2540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a:lvl1pPr>
          </a:lstStyle>
          <a:p>
            <a:fld id="{F6183C23-DD81-4E15-BFBA-2990194C5CA6}"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2" r:id="rId13"/>
    <p:sldLayoutId id="2147483663" r:id="rId14"/>
  </p:sldLayoutIdLst>
  <p:txStyles>
    <p:titleStyle>
      <a:lvl1pPr algn="ctr" rtl="0" fontAlgn="base">
        <a:spcBef>
          <a:spcPct val="0"/>
        </a:spcBef>
        <a:spcAft>
          <a:spcPct val="0"/>
        </a:spcAft>
        <a:defRPr sz="4400">
          <a:solidFill>
            <a:schemeClr val="tx2"/>
          </a:solidFill>
          <a:latin typeface="+mj-lt"/>
          <a:ea typeface="+mj-ea"/>
          <a:cs typeface="+mj-cs"/>
        </a:defRPr>
      </a:lvl1pPr>
      <a:lvl2pPr algn="ctr" rtl="0" fontAlgn="base">
        <a:spcBef>
          <a:spcPct val="0"/>
        </a:spcBef>
        <a:spcAft>
          <a:spcPct val="0"/>
        </a:spcAft>
        <a:defRPr sz="4400">
          <a:solidFill>
            <a:schemeClr val="tx2"/>
          </a:solidFill>
          <a:latin typeface="Times New Roman" pitchFamily="18" charset="0"/>
        </a:defRPr>
      </a:lvl2pPr>
      <a:lvl3pPr algn="ctr" rtl="0" fontAlgn="base">
        <a:spcBef>
          <a:spcPct val="0"/>
        </a:spcBef>
        <a:spcAft>
          <a:spcPct val="0"/>
        </a:spcAft>
        <a:defRPr sz="4400">
          <a:solidFill>
            <a:schemeClr val="tx2"/>
          </a:solidFill>
          <a:latin typeface="Times New Roman" pitchFamily="18" charset="0"/>
        </a:defRPr>
      </a:lvl3pPr>
      <a:lvl4pPr algn="ctr" rtl="0" fontAlgn="base">
        <a:spcBef>
          <a:spcPct val="0"/>
        </a:spcBef>
        <a:spcAft>
          <a:spcPct val="0"/>
        </a:spcAft>
        <a:defRPr sz="4400">
          <a:solidFill>
            <a:schemeClr val="tx2"/>
          </a:solidFill>
          <a:latin typeface="Times New Roman" pitchFamily="18" charset="0"/>
        </a:defRPr>
      </a:lvl4pPr>
      <a:lvl5pPr algn="ctr" rtl="0" fontAlgn="base">
        <a:spcBef>
          <a:spcPct val="0"/>
        </a:spcBef>
        <a:spcAft>
          <a:spcPct val="0"/>
        </a:spcAft>
        <a:defRPr sz="4400">
          <a:solidFill>
            <a:schemeClr val="tx2"/>
          </a:solidFill>
          <a:latin typeface="Times New Roman" pitchFamily="18" charset="0"/>
        </a:defRPr>
      </a:lvl5pPr>
      <a:lvl6pPr marL="457200" algn="ctr" rtl="0" fontAlgn="base">
        <a:spcBef>
          <a:spcPct val="0"/>
        </a:spcBef>
        <a:spcAft>
          <a:spcPct val="0"/>
        </a:spcAft>
        <a:defRPr sz="4400">
          <a:solidFill>
            <a:schemeClr val="tx2"/>
          </a:solidFill>
          <a:latin typeface="Times New Roman" pitchFamily="18" charset="0"/>
        </a:defRPr>
      </a:lvl6pPr>
      <a:lvl7pPr marL="914400" algn="ctr" rtl="0" fontAlgn="base">
        <a:spcBef>
          <a:spcPct val="0"/>
        </a:spcBef>
        <a:spcAft>
          <a:spcPct val="0"/>
        </a:spcAft>
        <a:defRPr sz="4400">
          <a:solidFill>
            <a:schemeClr val="tx2"/>
          </a:solidFill>
          <a:latin typeface="Times New Roman" pitchFamily="18" charset="0"/>
        </a:defRPr>
      </a:lvl7pPr>
      <a:lvl8pPr marL="1371600" algn="ctr" rtl="0" fontAlgn="base">
        <a:spcBef>
          <a:spcPct val="0"/>
        </a:spcBef>
        <a:spcAft>
          <a:spcPct val="0"/>
        </a:spcAft>
        <a:defRPr sz="4400">
          <a:solidFill>
            <a:schemeClr val="tx2"/>
          </a:solidFill>
          <a:latin typeface="Times New Roman" pitchFamily="18" charset="0"/>
        </a:defRPr>
      </a:lvl8pPr>
      <a:lvl9pPr marL="1828800" algn="ctr" rtl="0" fontAlgn="base">
        <a:spcBef>
          <a:spcPct val="0"/>
        </a:spcBef>
        <a:spcAft>
          <a:spcPct val="0"/>
        </a:spcAft>
        <a:defRPr sz="4400">
          <a:solidFill>
            <a:schemeClr val="tx2"/>
          </a:solidFill>
          <a:latin typeface="Times New Roman" pitchFamily="18" charset="0"/>
        </a:defRPr>
      </a:lvl9pPr>
    </p:titleStyle>
    <p:bodyStyle>
      <a:lvl1pPr marL="342900" indent="-342900" algn="l" rtl="0" fontAlgn="base">
        <a:spcBef>
          <a:spcPct val="20000"/>
        </a:spcBef>
        <a:spcAft>
          <a:spcPct val="0"/>
        </a:spcAft>
        <a:buChar char="•"/>
        <a:defRPr sz="3200">
          <a:solidFill>
            <a:schemeClr val="tx1"/>
          </a:solidFill>
          <a:latin typeface="+mn-lt"/>
          <a:ea typeface="+mn-ea"/>
          <a:cs typeface="+mn-cs"/>
        </a:defRPr>
      </a:lvl1pPr>
      <a:lvl2pPr marL="742950" indent="-285750" algn="l" rtl="0" fontAlgn="base">
        <a:spcBef>
          <a:spcPct val="20000"/>
        </a:spcBef>
        <a:spcAft>
          <a:spcPct val="0"/>
        </a:spcAft>
        <a:buChar char="–"/>
        <a:defRPr sz="2800">
          <a:solidFill>
            <a:schemeClr val="tx1"/>
          </a:solidFill>
          <a:latin typeface="+mn-lt"/>
        </a:defRPr>
      </a:lvl2pPr>
      <a:lvl3pPr marL="1143000" indent="-228600" algn="l" rtl="0" fontAlgn="base">
        <a:spcBef>
          <a:spcPct val="20000"/>
        </a:spcBef>
        <a:spcAft>
          <a:spcPct val="0"/>
        </a:spcAft>
        <a:buChar char="•"/>
        <a:defRPr sz="2400">
          <a:solidFill>
            <a:schemeClr val="tx1"/>
          </a:solidFill>
          <a:latin typeface="+mn-lt"/>
        </a:defRPr>
      </a:lvl3pPr>
      <a:lvl4pPr marL="1600200" indent="-228600" algn="l" rtl="0" fontAlgn="base">
        <a:spcBef>
          <a:spcPct val="20000"/>
        </a:spcBef>
        <a:spcAft>
          <a:spcPct val="0"/>
        </a:spcAft>
        <a:buChar char="–"/>
        <a:defRPr sz="2000">
          <a:solidFill>
            <a:schemeClr val="tx1"/>
          </a:solidFill>
          <a:latin typeface="+mn-lt"/>
        </a:defRPr>
      </a:lvl4pPr>
      <a:lvl5pPr marL="2057400" indent="-228600" algn="l" rtl="0" fontAlgn="base">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png"/><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4" Type="http://schemas.openxmlformats.org/officeDocument/2006/relationships/image" Target="../media/image7.wmf"/></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8.wmf"/></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4.vml"/><Relationship Id="rId6" Type="http://schemas.openxmlformats.org/officeDocument/2006/relationships/image" Target="../media/image10.wmf"/><Relationship Id="rId5" Type="http://schemas.openxmlformats.org/officeDocument/2006/relationships/oleObject" Target="../embeddings/oleObject5.bin"/><Relationship Id="rId4" Type="http://schemas.openxmlformats.org/officeDocument/2006/relationships/image" Target="../media/image9.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13.xml"/><Relationship Id="rId1" Type="http://schemas.openxmlformats.org/officeDocument/2006/relationships/vmlDrawing" Target="../drawings/vmlDrawing5.vml"/><Relationship Id="rId6" Type="http://schemas.openxmlformats.org/officeDocument/2006/relationships/image" Target="../media/image12.wmf"/><Relationship Id="rId5" Type="http://schemas.openxmlformats.org/officeDocument/2006/relationships/oleObject" Target="../embeddings/oleObject7.bin"/><Relationship Id="rId4" Type="http://schemas.openxmlformats.org/officeDocument/2006/relationships/image" Target="../media/image11.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13.xml"/><Relationship Id="rId1" Type="http://schemas.openxmlformats.org/officeDocument/2006/relationships/vmlDrawing" Target="../drawings/vmlDrawing6.vml"/><Relationship Id="rId4" Type="http://schemas.openxmlformats.org/officeDocument/2006/relationships/image" Target="../media/image13.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13.xml"/><Relationship Id="rId1" Type="http://schemas.openxmlformats.org/officeDocument/2006/relationships/vmlDrawing" Target="../drawings/vmlDrawing7.vml"/><Relationship Id="rId5" Type="http://schemas.openxmlformats.org/officeDocument/2006/relationships/image" Target="../media/image15.wmf"/><Relationship Id="rId4" Type="http://schemas.openxmlformats.org/officeDocument/2006/relationships/image" Target="../media/image14.wmf"/></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w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8.wmf"/><Relationship Id="rId1" Type="http://schemas.openxmlformats.org/officeDocument/2006/relationships/slideLayout" Target="../slideLayouts/slideLayout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5" Type="http://schemas.openxmlformats.org/officeDocument/2006/relationships/image" Target="../media/image20.wmf"/><Relationship Id="rId4" Type="http://schemas.openxmlformats.org/officeDocument/2006/relationships/image" Target="../media/image19.wmf"/></Relationships>
</file>

<file path=ppt/slides/_rels/slide19.xml.rels><?xml version="1.0" encoding="UTF-8" standalone="yes"?>
<Relationships xmlns="http://schemas.openxmlformats.org/package/2006/relationships"><Relationship Id="rId2" Type="http://schemas.openxmlformats.org/officeDocument/2006/relationships/image" Target="../media/image21.wmf"/><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12.xml"/><Relationship Id="rId4"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EB">
            <a:alpha val="0"/>
          </a:srgbClr>
        </a:solidFill>
        <a:effectLst/>
      </p:bgPr>
    </p:bg>
    <p:spTree>
      <p:nvGrpSpPr>
        <p:cNvPr id="1" name=""/>
        <p:cNvGrpSpPr/>
        <p:nvPr/>
      </p:nvGrpSpPr>
      <p:grpSpPr>
        <a:xfrm>
          <a:off x="0" y="0"/>
          <a:ext cx="0" cy="0"/>
          <a:chOff x="0" y="0"/>
          <a:chExt cx="0" cy="0"/>
        </a:xfrm>
      </p:grpSpPr>
      <p:sp>
        <p:nvSpPr>
          <p:cNvPr id="9" name="Rectangle 2"/>
          <p:cNvSpPr>
            <a:spLocks noGrp="1" noChangeArrowheads="1"/>
          </p:cNvSpPr>
          <p:nvPr>
            <p:ph type="ctrTitle"/>
          </p:nvPr>
        </p:nvSpPr>
        <p:spPr>
          <a:xfrm>
            <a:off x="2667000" y="990600"/>
            <a:ext cx="7315200" cy="2590800"/>
          </a:xfrm>
        </p:spPr>
        <p:txBody>
          <a:bodyPr/>
          <a:lstStyle/>
          <a:p>
            <a:r>
              <a:rPr lang="en-US" sz="5400" b="1" dirty="0"/>
              <a:t>Experimental Design For Engineers</a:t>
            </a:r>
            <a:r>
              <a:rPr lang="en-US" dirty="0"/>
              <a:t> </a:t>
            </a:r>
          </a:p>
        </p:txBody>
      </p:sp>
      <p:sp>
        <p:nvSpPr>
          <p:cNvPr id="10" name="Rectangle 3"/>
          <p:cNvSpPr>
            <a:spLocks noGrp="1" noChangeArrowheads="1"/>
          </p:cNvSpPr>
          <p:nvPr>
            <p:ph type="subTitle" idx="1"/>
          </p:nvPr>
        </p:nvSpPr>
        <p:spPr>
          <a:xfrm>
            <a:off x="2895600" y="3886200"/>
            <a:ext cx="6400800" cy="1752600"/>
          </a:xfrm>
        </p:spPr>
        <p:txBody>
          <a:bodyPr/>
          <a:lstStyle/>
          <a:p>
            <a:r>
              <a:rPr lang="en-US" sz="3600" b="1" dirty="0" smtClean="0"/>
              <a:t>ISYE435-535</a:t>
            </a:r>
            <a:endParaRPr lang="en-US" sz="36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Rectangle 2"/>
          <p:cNvSpPr>
            <a:spLocks noGrp="1" noChangeArrowheads="1"/>
          </p:cNvSpPr>
          <p:nvPr>
            <p:ph type="title"/>
          </p:nvPr>
        </p:nvSpPr>
        <p:spPr/>
        <p:txBody>
          <a:bodyPr/>
          <a:lstStyle/>
          <a:p>
            <a:r>
              <a:rPr lang="en-US" sz="4000" b="1"/>
              <a:t>What If There Are More Than Two Factor Levels?</a:t>
            </a:r>
          </a:p>
        </p:txBody>
      </p:sp>
      <p:sp>
        <p:nvSpPr>
          <p:cNvPr id="3075" name="Rectangle 3"/>
          <p:cNvSpPr>
            <a:spLocks noGrp="1" noChangeArrowheads="1"/>
          </p:cNvSpPr>
          <p:nvPr>
            <p:ph type="body" idx="1"/>
          </p:nvPr>
        </p:nvSpPr>
        <p:spPr/>
        <p:txBody>
          <a:bodyPr/>
          <a:lstStyle/>
          <a:p>
            <a:pPr>
              <a:spcBef>
                <a:spcPts val="0"/>
              </a:spcBef>
              <a:spcAft>
                <a:spcPts val="600"/>
              </a:spcAft>
            </a:pPr>
            <a:r>
              <a:rPr lang="en-US" sz="2400" dirty="0"/>
              <a:t>The </a:t>
            </a:r>
            <a:r>
              <a:rPr lang="en-US" sz="2400" i="1" dirty="0"/>
              <a:t>t</a:t>
            </a:r>
            <a:r>
              <a:rPr lang="en-US" sz="2400" dirty="0"/>
              <a:t>-test does not directly apply</a:t>
            </a:r>
          </a:p>
          <a:p>
            <a:pPr>
              <a:spcBef>
                <a:spcPts val="0"/>
              </a:spcBef>
              <a:spcAft>
                <a:spcPts val="600"/>
              </a:spcAft>
            </a:pPr>
            <a:r>
              <a:rPr lang="en-US" sz="2400" dirty="0"/>
              <a:t>There are lots of practical situations where there are either more than two levels of interest, or there are several factors of simultaneous interest</a:t>
            </a:r>
          </a:p>
          <a:p>
            <a:pPr>
              <a:spcBef>
                <a:spcPts val="0"/>
              </a:spcBef>
              <a:spcAft>
                <a:spcPts val="600"/>
              </a:spcAft>
            </a:pPr>
            <a:r>
              <a:rPr lang="en-US" sz="2400" dirty="0"/>
              <a:t>The </a:t>
            </a:r>
            <a:r>
              <a:rPr lang="en-US" sz="2400" b="1" dirty="0">
                <a:solidFill>
                  <a:schemeClr val="accent2"/>
                </a:solidFill>
              </a:rPr>
              <a:t>analysis of variance</a:t>
            </a:r>
            <a:r>
              <a:rPr lang="en-US" sz="2400" dirty="0"/>
              <a:t> (ANOVA) is the appropriate analysis “engine” for these types of experiments</a:t>
            </a:r>
          </a:p>
          <a:p>
            <a:pPr>
              <a:spcBef>
                <a:spcPts val="0"/>
              </a:spcBef>
              <a:spcAft>
                <a:spcPts val="600"/>
              </a:spcAft>
            </a:pPr>
            <a:r>
              <a:rPr lang="en-US" sz="2400" dirty="0"/>
              <a:t>The ANOVA was developed by Fisher in the early 1920s, and initially applied to agricultural experiments</a:t>
            </a:r>
          </a:p>
          <a:p>
            <a:pPr>
              <a:spcBef>
                <a:spcPts val="0"/>
              </a:spcBef>
              <a:spcAft>
                <a:spcPts val="600"/>
              </a:spcAft>
            </a:pPr>
            <a:r>
              <a:rPr lang="en-US" sz="2400" dirty="0"/>
              <a:t>Used extensively today for industrial experiments</a:t>
            </a:r>
          </a:p>
        </p:txBody>
      </p:sp>
      <p:graphicFrame>
        <p:nvGraphicFramePr>
          <p:cNvPr id="3076" name="Object 4"/>
          <p:cNvGraphicFramePr>
            <a:graphicFrameLocks noChangeAspect="1"/>
          </p:cNvGraphicFramePr>
          <p:nvPr/>
        </p:nvGraphicFramePr>
        <p:xfrm>
          <a:off x="1524000" y="0"/>
          <a:ext cx="914400" cy="198438"/>
        </p:xfrm>
        <a:graphic>
          <a:graphicData uri="http://schemas.openxmlformats.org/presentationml/2006/ole">
            <mc:AlternateContent xmlns:mc="http://schemas.openxmlformats.org/markup-compatibility/2006">
              <mc:Choice xmlns:v="urn:schemas-microsoft-com:vml" Requires="v">
                <p:oleObj spid="_x0000_s57350" name="Equation" r:id="rId3" imgW="914400" imgH="198720" progId="">
                  <p:embed/>
                </p:oleObj>
              </mc:Choice>
              <mc:Fallback>
                <p:oleObj name="Equation" r:id="rId3" imgW="914400" imgH="19872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24000" y="0"/>
                        <a:ext cx="914400" cy="198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9904236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a:xfrm>
            <a:off x="914400" y="152400"/>
            <a:ext cx="10363200" cy="1143000"/>
          </a:xfrm>
        </p:spPr>
        <p:txBody>
          <a:bodyPr/>
          <a:lstStyle/>
          <a:p>
            <a:r>
              <a:rPr lang="en-US" sz="4000" b="1" dirty="0"/>
              <a:t>An Example (See pg. </a:t>
            </a:r>
            <a:r>
              <a:rPr lang="en-US" sz="4000" b="1" dirty="0" smtClean="0"/>
              <a:t>65)</a:t>
            </a:r>
            <a:endParaRPr lang="en-US" sz="4000" b="1" dirty="0"/>
          </a:p>
        </p:txBody>
      </p:sp>
      <p:sp>
        <p:nvSpPr>
          <p:cNvPr id="4099" name="Rectangle 3"/>
          <p:cNvSpPr>
            <a:spLocks noGrp="1" noChangeArrowheads="1"/>
          </p:cNvSpPr>
          <p:nvPr>
            <p:ph type="body" idx="1"/>
          </p:nvPr>
        </p:nvSpPr>
        <p:spPr>
          <a:xfrm>
            <a:off x="914400" y="1371600"/>
            <a:ext cx="9753600" cy="5029200"/>
          </a:xfrm>
        </p:spPr>
        <p:txBody>
          <a:bodyPr/>
          <a:lstStyle/>
          <a:p>
            <a:pPr>
              <a:spcBef>
                <a:spcPts val="0"/>
              </a:spcBef>
              <a:spcAft>
                <a:spcPts val="600"/>
              </a:spcAft>
            </a:pPr>
            <a:r>
              <a:rPr lang="en-US" sz="2400" dirty="0"/>
              <a:t>An engineer is interested in investigating the relationship between the RF power setting and the etch rate for this tool. The objective of an experiment like this is to model the relationship between etch rate and RF power, and to specify the power setting that will give a desired target etch rate.</a:t>
            </a:r>
          </a:p>
          <a:p>
            <a:pPr>
              <a:spcBef>
                <a:spcPts val="0"/>
              </a:spcBef>
              <a:spcAft>
                <a:spcPts val="600"/>
              </a:spcAft>
            </a:pPr>
            <a:r>
              <a:rPr lang="en-US" sz="2400" dirty="0"/>
              <a:t>The response variable is etch rate.</a:t>
            </a:r>
          </a:p>
          <a:p>
            <a:pPr>
              <a:spcBef>
                <a:spcPts val="0"/>
              </a:spcBef>
              <a:spcAft>
                <a:spcPts val="600"/>
              </a:spcAft>
            </a:pPr>
            <a:r>
              <a:rPr lang="en-US" sz="2400" dirty="0"/>
              <a:t>She is interested in a particular gas (C2F6) and gap (0.80 cm), and wants to test four levels of RF power: 160W, 180W, 200W, and 220W. She decided to test five wafers at each level of RF power.</a:t>
            </a:r>
          </a:p>
          <a:p>
            <a:pPr>
              <a:spcBef>
                <a:spcPts val="0"/>
              </a:spcBef>
              <a:spcAft>
                <a:spcPts val="600"/>
              </a:spcAft>
            </a:pPr>
            <a:r>
              <a:rPr lang="en-US" sz="2400" dirty="0"/>
              <a:t>The experimenter chooses 4 </a:t>
            </a:r>
            <a:r>
              <a:rPr lang="en-US" sz="2400" b="1" dirty="0">
                <a:solidFill>
                  <a:schemeClr val="accent2"/>
                </a:solidFill>
              </a:rPr>
              <a:t>levels</a:t>
            </a:r>
            <a:r>
              <a:rPr lang="en-US" sz="2400" dirty="0"/>
              <a:t> of RF power 160W, 180W, 200W, and 220W</a:t>
            </a:r>
          </a:p>
          <a:p>
            <a:pPr>
              <a:spcBef>
                <a:spcPts val="0"/>
              </a:spcBef>
              <a:spcAft>
                <a:spcPts val="600"/>
              </a:spcAft>
            </a:pPr>
            <a:r>
              <a:rPr lang="en-US" sz="2400" dirty="0"/>
              <a:t>The experiment is </a:t>
            </a:r>
            <a:r>
              <a:rPr lang="en-US" sz="2400" b="1" dirty="0">
                <a:solidFill>
                  <a:schemeClr val="accent2"/>
                </a:solidFill>
              </a:rPr>
              <a:t>replicated</a:t>
            </a:r>
            <a:r>
              <a:rPr lang="en-US" sz="2400" dirty="0"/>
              <a:t> 5 times – runs made in random order</a:t>
            </a:r>
          </a:p>
        </p:txBody>
      </p:sp>
    </p:spTree>
    <p:extLst>
      <p:ext uri="{BB962C8B-B14F-4D97-AF65-F5344CB8AC3E}">
        <p14:creationId xmlns:p14="http://schemas.microsoft.com/office/powerpoint/2010/main" val="15381644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4" name="Picture 4"/>
          <p:cNvPicPr>
            <a:picLocks noGrp="1" noChangeAspect="1" noChangeArrowheads="1"/>
          </p:cNvPicPr>
          <p:nvPr>
            <p:ph/>
          </p:nvPr>
        </p:nvPicPr>
        <p:blipFill>
          <a:blip r:embed="rId2" cstate="print"/>
          <a:srcRect/>
          <a:stretch>
            <a:fillRect/>
          </a:stretch>
        </p:blipFill>
        <p:spPr>
          <a:xfrm>
            <a:off x="1981200" y="860426"/>
            <a:ext cx="8229600" cy="4740275"/>
          </a:xfrm>
          <a:noFill/>
          <a:ln/>
        </p:spPr>
      </p:pic>
    </p:spTree>
    <p:extLst>
      <p:ext uri="{BB962C8B-B14F-4D97-AF65-F5344CB8AC3E}">
        <p14:creationId xmlns:p14="http://schemas.microsoft.com/office/powerpoint/2010/main" val="2450618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p:nvPr>
        </p:nvSpPr>
        <p:spPr>
          <a:xfrm>
            <a:off x="2209800" y="152399"/>
            <a:ext cx="7772400" cy="838201"/>
          </a:xfrm>
        </p:spPr>
        <p:txBody>
          <a:bodyPr/>
          <a:lstStyle/>
          <a:p>
            <a:r>
              <a:rPr lang="en-US" sz="4000" b="1" dirty="0"/>
              <a:t>An Example (See pg. </a:t>
            </a:r>
            <a:r>
              <a:rPr lang="en-US" sz="4000" b="1" dirty="0" smtClean="0"/>
              <a:t>67)</a:t>
            </a:r>
            <a:endParaRPr lang="en-US" sz="4000" b="1" dirty="0"/>
          </a:p>
        </p:txBody>
      </p:sp>
      <p:pic>
        <p:nvPicPr>
          <p:cNvPr id="6150" name="Picture 6"/>
          <p:cNvPicPr>
            <a:picLocks noChangeAspect="1" noChangeArrowheads="1"/>
          </p:cNvPicPr>
          <p:nvPr/>
        </p:nvPicPr>
        <p:blipFill>
          <a:blip r:embed="rId2" cstate="print"/>
          <a:srcRect/>
          <a:stretch>
            <a:fillRect/>
          </a:stretch>
        </p:blipFill>
        <p:spPr bwMode="auto">
          <a:xfrm>
            <a:off x="1828800" y="1077913"/>
            <a:ext cx="8534400" cy="2524125"/>
          </a:xfrm>
          <a:prstGeom prst="rect">
            <a:avLst/>
          </a:prstGeom>
          <a:noFill/>
          <a:ln w="9525">
            <a:noFill/>
            <a:miter lim="800000"/>
            <a:headEnd/>
            <a:tailEnd/>
          </a:ln>
          <a:effectLst/>
        </p:spPr>
      </p:pic>
      <p:pic>
        <p:nvPicPr>
          <p:cNvPr id="6151" name="Picture 7"/>
          <p:cNvPicPr>
            <a:picLocks noChangeAspect="1" noChangeArrowheads="1"/>
          </p:cNvPicPr>
          <p:nvPr/>
        </p:nvPicPr>
        <p:blipFill>
          <a:blip r:embed="rId3" cstate="print"/>
          <a:srcRect/>
          <a:stretch>
            <a:fillRect/>
          </a:stretch>
        </p:blipFill>
        <p:spPr bwMode="auto">
          <a:xfrm>
            <a:off x="2362200" y="3592512"/>
            <a:ext cx="7239000" cy="2655888"/>
          </a:xfrm>
          <a:prstGeom prst="rect">
            <a:avLst/>
          </a:prstGeom>
          <a:noFill/>
          <a:ln w="9525">
            <a:noFill/>
            <a:miter lim="800000"/>
            <a:headEnd/>
            <a:tailEnd/>
          </a:ln>
          <a:effectLst/>
        </p:spPr>
      </p:pic>
    </p:spTree>
    <p:extLst>
      <p:ext uri="{BB962C8B-B14F-4D97-AF65-F5344CB8AC3E}">
        <p14:creationId xmlns:p14="http://schemas.microsoft.com/office/powerpoint/2010/main" val="316874364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ChangeArrowheads="1"/>
          </p:cNvSpPr>
          <p:nvPr/>
        </p:nvSpPr>
        <p:spPr bwMode="auto">
          <a:xfrm>
            <a:off x="2819400" y="1562100"/>
            <a:ext cx="6553200" cy="3733800"/>
          </a:xfrm>
          <a:prstGeom prst="rect">
            <a:avLst/>
          </a:prstGeom>
          <a:noFill/>
          <a:ln w="28575">
            <a:solidFill>
              <a:srgbClr val="FF0000"/>
            </a:solidFill>
            <a:miter lim="800000"/>
            <a:headEnd/>
            <a:tailEnd/>
          </a:ln>
          <a:effectLst/>
        </p:spPr>
        <p:txBody>
          <a:bodyPr/>
          <a:lstStyle/>
          <a:p>
            <a:pPr marL="342900" indent="-342900">
              <a:spcBef>
                <a:spcPts val="0"/>
              </a:spcBef>
              <a:spcAft>
                <a:spcPts val="600"/>
              </a:spcAft>
              <a:buFontTx/>
              <a:buChar char="•"/>
            </a:pPr>
            <a:r>
              <a:rPr lang="en-US" sz="2800" dirty="0"/>
              <a:t>Does </a:t>
            </a:r>
            <a:r>
              <a:rPr lang="en-US" sz="2800" b="1" dirty="0">
                <a:solidFill>
                  <a:schemeClr val="accent2"/>
                </a:solidFill>
              </a:rPr>
              <a:t>changing</a:t>
            </a:r>
            <a:r>
              <a:rPr lang="en-US" sz="2800" dirty="0"/>
              <a:t> the power change the mean etch rate?</a:t>
            </a:r>
          </a:p>
          <a:p>
            <a:pPr marL="342900" indent="-342900">
              <a:spcBef>
                <a:spcPts val="0"/>
              </a:spcBef>
              <a:spcAft>
                <a:spcPts val="600"/>
              </a:spcAft>
              <a:buFontTx/>
              <a:buChar char="•"/>
            </a:pPr>
            <a:r>
              <a:rPr lang="en-US" sz="2800" dirty="0"/>
              <a:t>Is there an </a:t>
            </a:r>
            <a:r>
              <a:rPr lang="en-US" sz="2800" b="1" dirty="0">
                <a:solidFill>
                  <a:schemeClr val="accent2"/>
                </a:solidFill>
              </a:rPr>
              <a:t>optimum</a:t>
            </a:r>
            <a:r>
              <a:rPr lang="en-US" sz="2800" dirty="0"/>
              <a:t> level for power?</a:t>
            </a:r>
          </a:p>
          <a:p>
            <a:pPr marL="342900" indent="-342900">
              <a:spcBef>
                <a:spcPts val="0"/>
              </a:spcBef>
              <a:spcAft>
                <a:spcPts val="600"/>
              </a:spcAft>
              <a:buFontTx/>
              <a:buChar char="•"/>
            </a:pPr>
            <a:r>
              <a:rPr lang="en-US" sz="2800" dirty="0"/>
              <a:t>We would like to have an objective way to answer these questions</a:t>
            </a:r>
          </a:p>
          <a:p>
            <a:pPr marL="342900" indent="-342900">
              <a:spcBef>
                <a:spcPts val="0"/>
              </a:spcBef>
              <a:spcAft>
                <a:spcPts val="600"/>
              </a:spcAft>
              <a:buFontTx/>
              <a:buChar char="•"/>
            </a:pPr>
            <a:r>
              <a:rPr lang="en-US" sz="2800" dirty="0"/>
              <a:t>The </a:t>
            </a:r>
            <a:r>
              <a:rPr lang="en-US" sz="2800" i="1" dirty="0"/>
              <a:t>t</a:t>
            </a:r>
            <a:r>
              <a:rPr lang="en-US" sz="2800" dirty="0"/>
              <a:t>-test really doesn’t apply here – more than two factor levels</a:t>
            </a:r>
          </a:p>
        </p:txBody>
      </p:sp>
    </p:spTree>
    <p:extLst>
      <p:ext uri="{BB962C8B-B14F-4D97-AF65-F5344CB8AC3E}">
        <p14:creationId xmlns:p14="http://schemas.microsoft.com/office/powerpoint/2010/main" val="99994231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p:nvPr>
        </p:nvSpPr>
        <p:spPr>
          <a:xfrm>
            <a:off x="1828800" y="76200"/>
            <a:ext cx="8534400" cy="990600"/>
          </a:xfrm>
        </p:spPr>
        <p:txBody>
          <a:bodyPr/>
          <a:lstStyle/>
          <a:p>
            <a:r>
              <a:rPr lang="en-US" sz="3200" b="1" dirty="0"/>
              <a:t>The Analysis of Variance (Sec. 3.2, pg. </a:t>
            </a:r>
            <a:r>
              <a:rPr lang="en-US" sz="3200" b="1" dirty="0" smtClean="0"/>
              <a:t>67)</a:t>
            </a:r>
            <a:endParaRPr lang="en-US" sz="3200" b="1" dirty="0"/>
          </a:p>
        </p:txBody>
      </p:sp>
      <p:sp>
        <p:nvSpPr>
          <p:cNvPr id="7171" name="Rectangle 3"/>
          <p:cNvSpPr>
            <a:spLocks noGrp="1" noChangeArrowheads="1"/>
          </p:cNvSpPr>
          <p:nvPr>
            <p:ph type="body" sz="half" idx="2"/>
          </p:nvPr>
        </p:nvSpPr>
        <p:spPr>
          <a:xfrm>
            <a:off x="1524000" y="3581400"/>
            <a:ext cx="9296400" cy="3200400"/>
          </a:xfrm>
        </p:spPr>
        <p:txBody>
          <a:bodyPr/>
          <a:lstStyle/>
          <a:p>
            <a:pPr>
              <a:lnSpc>
                <a:spcPct val="90000"/>
              </a:lnSpc>
            </a:pPr>
            <a:r>
              <a:rPr lang="en-US" sz="2400" dirty="0"/>
              <a:t>In general, there will be </a:t>
            </a:r>
            <a:r>
              <a:rPr lang="en-US" sz="2400" i="1" dirty="0"/>
              <a:t>a</a:t>
            </a:r>
            <a:r>
              <a:rPr lang="en-US" sz="2400" dirty="0"/>
              <a:t> </a:t>
            </a:r>
            <a:r>
              <a:rPr lang="en-US" sz="2400" b="1" dirty="0">
                <a:solidFill>
                  <a:schemeClr val="accent2"/>
                </a:solidFill>
              </a:rPr>
              <a:t>levels</a:t>
            </a:r>
            <a:r>
              <a:rPr lang="en-US" sz="2400" dirty="0"/>
              <a:t> of the factor, or </a:t>
            </a:r>
            <a:r>
              <a:rPr lang="en-US" sz="2400" i="1" dirty="0"/>
              <a:t>a</a:t>
            </a:r>
            <a:r>
              <a:rPr lang="en-US" sz="2400" dirty="0"/>
              <a:t> </a:t>
            </a:r>
            <a:r>
              <a:rPr lang="en-US" sz="2400" b="1" dirty="0">
                <a:solidFill>
                  <a:schemeClr val="accent2"/>
                </a:solidFill>
              </a:rPr>
              <a:t>treatments, and</a:t>
            </a:r>
            <a:r>
              <a:rPr lang="en-US" sz="2400" dirty="0"/>
              <a:t> </a:t>
            </a:r>
            <a:r>
              <a:rPr lang="en-US" sz="2400" i="1" dirty="0"/>
              <a:t>n</a:t>
            </a:r>
            <a:r>
              <a:rPr lang="en-US" sz="2400" dirty="0"/>
              <a:t> </a:t>
            </a:r>
            <a:r>
              <a:rPr lang="en-US" sz="2400" b="1" dirty="0">
                <a:solidFill>
                  <a:schemeClr val="accent2"/>
                </a:solidFill>
              </a:rPr>
              <a:t>replicates</a:t>
            </a:r>
            <a:r>
              <a:rPr lang="en-US" sz="2400" dirty="0"/>
              <a:t> of the experiment, run in </a:t>
            </a:r>
            <a:r>
              <a:rPr lang="en-US" sz="2400" b="1" dirty="0">
                <a:solidFill>
                  <a:schemeClr val="accent2"/>
                </a:solidFill>
              </a:rPr>
              <a:t>random</a:t>
            </a:r>
            <a:r>
              <a:rPr lang="en-US" sz="2400" dirty="0"/>
              <a:t> </a:t>
            </a:r>
            <a:r>
              <a:rPr lang="en-US" sz="2400" b="1" dirty="0">
                <a:solidFill>
                  <a:schemeClr val="accent2"/>
                </a:solidFill>
              </a:rPr>
              <a:t>order</a:t>
            </a:r>
            <a:r>
              <a:rPr lang="en-US" sz="2400" b="1" dirty="0"/>
              <a:t>…</a:t>
            </a:r>
            <a:r>
              <a:rPr lang="en-US" sz="2400" dirty="0"/>
              <a:t>a completely randomized design</a:t>
            </a:r>
            <a:r>
              <a:rPr lang="en-US" sz="2400" b="1" dirty="0"/>
              <a:t> (</a:t>
            </a:r>
            <a:r>
              <a:rPr lang="en-US" sz="2400" b="1" dirty="0">
                <a:solidFill>
                  <a:schemeClr val="accent2"/>
                </a:solidFill>
              </a:rPr>
              <a:t>CRD</a:t>
            </a:r>
            <a:r>
              <a:rPr lang="en-US" sz="2400" b="1" dirty="0"/>
              <a:t>)</a:t>
            </a:r>
            <a:endParaRPr lang="en-US" sz="2400" b="1" dirty="0">
              <a:solidFill>
                <a:schemeClr val="accent2"/>
              </a:solidFill>
            </a:endParaRPr>
          </a:p>
          <a:p>
            <a:pPr>
              <a:lnSpc>
                <a:spcPct val="90000"/>
              </a:lnSpc>
            </a:pPr>
            <a:r>
              <a:rPr lang="en-US" sz="2400" i="1" dirty="0"/>
              <a:t>N = an</a:t>
            </a:r>
            <a:r>
              <a:rPr lang="en-US" sz="2400" dirty="0"/>
              <a:t> total runs</a:t>
            </a:r>
          </a:p>
          <a:p>
            <a:pPr>
              <a:lnSpc>
                <a:spcPct val="90000"/>
              </a:lnSpc>
            </a:pPr>
            <a:r>
              <a:rPr lang="en-US" sz="2400" dirty="0"/>
              <a:t>We consider the </a:t>
            </a:r>
            <a:r>
              <a:rPr lang="en-US" sz="2400" b="1" dirty="0">
                <a:solidFill>
                  <a:schemeClr val="accent2"/>
                </a:solidFill>
              </a:rPr>
              <a:t>fixed effects</a:t>
            </a:r>
            <a:r>
              <a:rPr lang="en-US" sz="2400" dirty="0"/>
              <a:t> case…the </a:t>
            </a:r>
            <a:r>
              <a:rPr lang="en-US" sz="2400" b="1" dirty="0">
                <a:solidFill>
                  <a:schemeClr val="accent2"/>
                </a:solidFill>
              </a:rPr>
              <a:t>random effects</a:t>
            </a:r>
            <a:r>
              <a:rPr lang="en-US" sz="2400" dirty="0"/>
              <a:t> case will be discussed later</a:t>
            </a:r>
          </a:p>
          <a:p>
            <a:pPr>
              <a:lnSpc>
                <a:spcPct val="90000"/>
              </a:lnSpc>
            </a:pPr>
            <a:r>
              <a:rPr lang="en-US" sz="2400" dirty="0"/>
              <a:t>Objective is to test hypotheses about the equality of the </a:t>
            </a:r>
            <a:r>
              <a:rPr lang="en-US" sz="2400" i="1" dirty="0"/>
              <a:t>a </a:t>
            </a:r>
            <a:r>
              <a:rPr lang="en-US" sz="2400" dirty="0"/>
              <a:t>treatment means</a:t>
            </a:r>
          </a:p>
        </p:txBody>
      </p:sp>
      <p:pic>
        <p:nvPicPr>
          <p:cNvPr id="7173" name="Picture 5"/>
          <p:cNvPicPr>
            <a:picLocks noChangeAspect="1" noChangeArrowheads="1"/>
          </p:cNvPicPr>
          <p:nvPr/>
        </p:nvPicPr>
        <p:blipFill>
          <a:blip r:embed="rId2" cstate="print"/>
          <a:srcRect/>
          <a:stretch>
            <a:fillRect/>
          </a:stretch>
        </p:blipFill>
        <p:spPr bwMode="auto">
          <a:xfrm>
            <a:off x="1828800" y="990600"/>
            <a:ext cx="8458200" cy="2616200"/>
          </a:xfrm>
          <a:prstGeom prst="rect">
            <a:avLst/>
          </a:prstGeom>
          <a:noFill/>
          <a:ln w="9525">
            <a:noFill/>
            <a:miter lim="800000"/>
            <a:headEnd/>
            <a:tailEnd/>
          </a:ln>
          <a:effectLst/>
        </p:spPr>
      </p:pic>
    </p:spTree>
    <p:extLst>
      <p:ext uri="{BB962C8B-B14F-4D97-AF65-F5344CB8AC3E}">
        <p14:creationId xmlns:p14="http://schemas.microsoft.com/office/powerpoint/2010/main" val="168305849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p:nvPr>
        </p:nvSpPr>
        <p:spPr>
          <a:xfrm>
            <a:off x="2209800" y="76200"/>
            <a:ext cx="7772400" cy="914400"/>
          </a:xfrm>
        </p:spPr>
        <p:txBody>
          <a:bodyPr/>
          <a:lstStyle/>
          <a:p>
            <a:r>
              <a:rPr lang="en-US" sz="3600" b="1" dirty="0"/>
              <a:t>The Analysis of Variance</a:t>
            </a:r>
          </a:p>
        </p:txBody>
      </p:sp>
      <p:sp>
        <p:nvSpPr>
          <p:cNvPr id="8195" name="Rectangle 3"/>
          <p:cNvSpPr>
            <a:spLocks noGrp="1" noChangeArrowheads="1"/>
          </p:cNvSpPr>
          <p:nvPr>
            <p:ph type="body" idx="1"/>
          </p:nvPr>
        </p:nvSpPr>
        <p:spPr>
          <a:xfrm>
            <a:off x="1371600" y="1143000"/>
            <a:ext cx="9448800" cy="2590800"/>
          </a:xfrm>
        </p:spPr>
        <p:txBody>
          <a:bodyPr/>
          <a:lstStyle/>
          <a:p>
            <a:r>
              <a:rPr lang="en-US" sz="2800" dirty="0"/>
              <a:t>The name “analysis of variance” stems from a </a:t>
            </a:r>
            <a:r>
              <a:rPr lang="en-US" sz="2800" b="1" dirty="0">
                <a:solidFill>
                  <a:schemeClr val="accent2"/>
                </a:solidFill>
              </a:rPr>
              <a:t>partitioning</a:t>
            </a:r>
            <a:r>
              <a:rPr lang="en-US" sz="2800" dirty="0"/>
              <a:t> of the total variability in the response variable into components that are consistent with a </a:t>
            </a:r>
            <a:r>
              <a:rPr lang="en-US" sz="2800" b="1" dirty="0">
                <a:solidFill>
                  <a:schemeClr val="accent2"/>
                </a:solidFill>
              </a:rPr>
              <a:t>model</a:t>
            </a:r>
            <a:r>
              <a:rPr lang="en-US" sz="2800" dirty="0"/>
              <a:t> for the experiment</a:t>
            </a:r>
          </a:p>
          <a:p>
            <a:r>
              <a:rPr lang="en-US" sz="2800" dirty="0"/>
              <a:t>The basic single-factor ANOVA model is </a:t>
            </a:r>
          </a:p>
        </p:txBody>
      </p:sp>
      <p:graphicFrame>
        <p:nvGraphicFramePr>
          <p:cNvPr id="8196" name="Object 4"/>
          <p:cNvGraphicFramePr>
            <a:graphicFrameLocks noChangeAspect="1"/>
          </p:cNvGraphicFramePr>
          <p:nvPr>
            <p:extLst>
              <p:ext uri="{D42A27DB-BD31-4B8C-83A1-F6EECF244321}">
                <p14:modId xmlns:p14="http://schemas.microsoft.com/office/powerpoint/2010/main" val="3782766903"/>
              </p:ext>
            </p:extLst>
          </p:nvPr>
        </p:nvGraphicFramePr>
        <p:xfrm>
          <a:off x="3170238" y="3429000"/>
          <a:ext cx="5821362" cy="2701925"/>
        </p:xfrm>
        <a:graphic>
          <a:graphicData uri="http://schemas.openxmlformats.org/presentationml/2006/ole">
            <mc:AlternateContent xmlns:mc="http://schemas.openxmlformats.org/markup-compatibility/2006">
              <mc:Choice xmlns:v="urn:schemas-microsoft-com:vml" Requires="v">
                <p:oleObj spid="_x0000_s58374" name="Equation" r:id="rId3" imgW="2844720" imgH="1193760" progId="">
                  <p:embed/>
                </p:oleObj>
              </mc:Choice>
              <mc:Fallback>
                <p:oleObj name="Equation" r:id="rId3" imgW="2844720" imgH="119376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70238" y="3429000"/>
                        <a:ext cx="5821362" cy="2701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3918479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914400" y="76200"/>
            <a:ext cx="10363200" cy="1143000"/>
          </a:xfrm>
        </p:spPr>
        <p:txBody>
          <a:bodyPr/>
          <a:lstStyle/>
          <a:p>
            <a:r>
              <a:rPr lang="en-US" sz="3600" b="1" dirty="0"/>
              <a:t>Models for the Data</a:t>
            </a:r>
          </a:p>
        </p:txBody>
      </p:sp>
      <p:sp>
        <p:nvSpPr>
          <p:cNvPr id="9219" name="Rectangle 3"/>
          <p:cNvSpPr>
            <a:spLocks noGrp="1" noChangeArrowheads="1"/>
          </p:cNvSpPr>
          <p:nvPr>
            <p:ph type="body" idx="1"/>
          </p:nvPr>
        </p:nvSpPr>
        <p:spPr>
          <a:xfrm>
            <a:off x="914400" y="1295400"/>
            <a:ext cx="10363200" cy="1066800"/>
          </a:xfrm>
        </p:spPr>
        <p:txBody>
          <a:bodyPr/>
          <a:lstStyle/>
          <a:p>
            <a:pPr>
              <a:buFontTx/>
              <a:buNone/>
            </a:pPr>
            <a:r>
              <a:rPr lang="en-US" dirty="0"/>
              <a:t>   There are several ways to write a model for the data:</a:t>
            </a:r>
          </a:p>
        </p:txBody>
      </p:sp>
      <p:graphicFrame>
        <p:nvGraphicFramePr>
          <p:cNvPr id="9220" name="Object 4"/>
          <p:cNvGraphicFramePr>
            <a:graphicFrameLocks noChangeAspect="1"/>
          </p:cNvGraphicFramePr>
          <p:nvPr>
            <p:extLst>
              <p:ext uri="{D42A27DB-BD31-4B8C-83A1-F6EECF244321}">
                <p14:modId xmlns:p14="http://schemas.microsoft.com/office/powerpoint/2010/main" val="2670449059"/>
              </p:ext>
            </p:extLst>
          </p:nvPr>
        </p:nvGraphicFramePr>
        <p:xfrm>
          <a:off x="2590800" y="2486025"/>
          <a:ext cx="7010400" cy="2543175"/>
        </p:xfrm>
        <a:graphic>
          <a:graphicData uri="http://schemas.openxmlformats.org/presentationml/2006/ole">
            <mc:AlternateContent xmlns:mc="http://schemas.openxmlformats.org/markup-compatibility/2006">
              <mc:Choice xmlns:v="urn:schemas-microsoft-com:vml" Requires="v">
                <p:oleObj spid="_x0000_s59399" name="Equation" r:id="rId3" imgW="2590560" imgH="939600" progId="">
                  <p:embed/>
                </p:oleObj>
              </mc:Choice>
              <mc:Fallback>
                <p:oleObj name="Equation" r:id="rId3" imgW="2590560" imgH="9396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90800" y="2486025"/>
                        <a:ext cx="7010400" cy="2543175"/>
                      </a:xfrm>
                      <a:prstGeom prst="rect">
                        <a:avLst/>
                      </a:prstGeom>
                      <a:noFill/>
                    </p:spPr>
                  </p:pic>
                </p:oleObj>
              </mc:Fallback>
            </mc:AlternateContent>
          </a:graphicData>
        </a:graphic>
      </p:graphicFrame>
    </p:spTree>
    <p:extLst>
      <p:ext uri="{BB962C8B-B14F-4D97-AF65-F5344CB8AC3E}">
        <p14:creationId xmlns:p14="http://schemas.microsoft.com/office/powerpoint/2010/main" val="137800838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p:nvPr>
        </p:nvSpPr>
        <p:spPr>
          <a:xfrm>
            <a:off x="2209800" y="0"/>
            <a:ext cx="7772400" cy="914400"/>
          </a:xfrm>
        </p:spPr>
        <p:txBody>
          <a:bodyPr/>
          <a:lstStyle/>
          <a:p>
            <a:r>
              <a:rPr lang="en-US" sz="3600" b="1" dirty="0"/>
              <a:t>The Analysis of Variance</a:t>
            </a:r>
          </a:p>
        </p:txBody>
      </p:sp>
      <p:sp>
        <p:nvSpPr>
          <p:cNvPr id="10243" name="Rectangle 3"/>
          <p:cNvSpPr>
            <a:spLocks noGrp="1" noChangeArrowheads="1"/>
          </p:cNvSpPr>
          <p:nvPr>
            <p:ph type="body" idx="1"/>
          </p:nvPr>
        </p:nvSpPr>
        <p:spPr>
          <a:xfrm>
            <a:off x="1676400" y="1211262"/>
            <a:ext cx="8839200" cy="2895600"/>
          </a:xfrm>
        </p:spPr>
        <p:txBody>
          <a:bodyPr/>
          <a:lstStyle/>
          <a:p>
            <a:r>
              <a:rPr lang="en-US" sz="2800" b="1" dirty="0">
                <a:solidFill>
                  <a:srgbClr val="FF0000"/>
                </a:solidFill>
              </a:rPr>
              <a:t>Total variability</a:t>
            </a:r>
            <a:r>
              <a:rPr lang="en-US" sz="2800" dirty="0"/>
              <a:t> is measured by the total sum of squares:</a:t>
            </a:r>
          </a:p>
          <a:p>
            <a:endParaRPr lang="en-US" sz="2800" dirty="0"/>
          </a:p>
          <a:p>
            <a:endParaRPr lang="en-US" sz="2800" dirty="0"/>
          </a:p>
          <a:p>
            <a:endParaRPr lang="en-US" sz="2800" dirty="0" smtClean="0"/>
          </a:p>
          <a:p>
            <a:r>
              <a:rPr lang="en-US" sz="2800" dirty="0" smtClean="0"/>
              <a:t>The </a:t>
            </a:r>
            <a:r>
              <a:rPr lang="en-US" sz="2800" dirty="0"/>
              <a:t>basic ANOVA partitioning is:</a:t>
            </a:r>
          </a:p>
        </p:txBody>
      </p:sp>
      <p:graphicFrame>
        <p:nvGraphicFramePr>
          <p:cNvPr id="10244" name="Object 4"/>
          <p:cNvGraphicFramePr>
            <a:graphicFrameLocks noChangeAspect="1"/>
          </p:cNvGraphicFramePr>
          <p:nvPr>
            <p:extLst>
              <p:ext uri="{D42A27DB-BD31-4B8C-83A1-F6EECF244321}">
                <p14:modId xmlns:p14="http://schemas.microsoft.com/office/powerpoint/2010/main" val="2042406951"/>
              </p:ext>
            </p:extLst>
          </p:nvPr>
        </p:nvGraphicFramePr>
        <p:xfrm>
          <a:off x="4495800" y="1828800"/>
          <a:ext cx="3200400" cy="1027113"/>
        </p:xfrm>
        <a:graphic>
          <a:graphicData uri="http://schemas.openxmlformats.org/presentationml/2006/ole">
            <mc:AlternateContent xmlns:mc="http://schemas.openxmlformats.org/markup-compatibility/2006">
              <mc:Choice xmlns:v="urn:schemas-microsoft-com:vml" Requires="v">
                <p:oleObj spid="_x0000_s60430" name="Equation" r:id="rId3" imgW="1384200" imgH="444240" progId="">
                  <p:embed/>
                </p:oleObj>
              </mc:Choice>
              <mc:Fallback>
                <p:oleObj name="Equation" r:id="rId3" imgW="1384200" imgH="44424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1828800"/>
                        <a:ext cx="3200400" cy="1027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0245" name="Object 5"/>
          <p:cNvGraphicFramePr>
            <a:graphicFrameLocks noChangeAspect="1"/>
          </p:cNvGraphicFramePr>
          <p:nvPr>
            <p:extLst>
              <p:ext uri="{D42A27DB-BD31-4B8C-83A1-F6EECF244321}">
                <p14:modId xmlns:p14="http://schemas.microsoft.com/office/powerpoint/2010/main" val="2984688295"/>
              </p:ext>
            </p:extLst>
          </p:nvPr>
        </p:nvGraphicFramePr>
        <p:xfrm>
          <a:off x="3048000" y="4030662"/>
          <a:ext cx="6096000" cy="2293938"/>
        </p:xfrm>
        <a:graphic>
          <a:graphicData uri="http://schemas.openxmlformats.org/presentationml/2006/ole">
            <mc:AlternateContent xmlns:mc="http://schemas.openxmlformats.org/markup-compatibility/2006">
              <mc:Choice xmlns:v="urn:schemas-microsoft-com:vml" Requires="v">
                <p:oleObj spid="_x0000_s60431" name="Equation" r:id="rId5" imgW="3073320" imgH="1155600" progId="">
                  <p:embed/>
                </p:oleObj>
              </mc:Choice>
              <mc:Fallback>
                <p:oleObj name="Equation" r:id="rId5" imgW="3073320" imgH="11556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48000" y="4030662"/>
                        <a:ext cx="6096000" cy="2293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90270777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p:cNvSpPr>
            <a:spLocks noGrp="1" noChangeArrowheads="1"/>
          </p:cNvSpPr>
          <p:nvPr>
            <p:ph type="title"/>
          </p:nvPr>
        </p:nvSpPr>
        <p:spPr>
          <a:xfrm>
            <a:off x="914400" y="0"/>
            <a:ext cx="10363200" cy="914400"/>
          </a:xfrm>
        </p:spPr>
        <p:txBody>
          <a:bodyPr/>
          <a:lstStyle/>
          <a:p>
            <a:r>
              <a:rPr lang="en-US" sz="3600" b="1" dirty="0"/>
              <a:t>The Analysis of Variance</a:t>
            </a:r>
          </a:p>
        </p:txBody>
      </p:sp>
      <p:sp>
        <p:nvSpPr>
          <p:cNvPr id="11267" name="Rectangle 3"/>
          <p:cNvSpPr>
            <a:spLocks noGrp="1" noChangeArrowheads="1"/>
          </p:cNvSpPr>
          <p:nvPr>
            <p:ph type="body" sz="half" idx="2"/>
          </p:nvPr>
        </p:nvSpPr>
        <p:spPr>
          <a:xfrm>
            <a:off x="2057400" y="2819400"/>
            <a:ext cx="8001000" cy="2209800"/>
          </a:xfrm>
        </p:spPr>
        <p:txBody>
          <a:bodyPr/>
          <a:lstStyle/>
          <a:p>
            <a:pPr>
              <a:spcBef>
                <a:spcPts val="0"/>
              </a:spcBef>
              <a:spcAft>
                <a:spcPts val="600"/>
              </a:spcAft>
            </a:pPr>
            <a:r>
              <a:rPr lang="en-US" sz="2400" dirty="0"/>
              <a:t>A large value of </a:t>
            </a:r>
            <a:r>
              <a:rPr lang="en-US" sz="2400" i="1" dirty="0" err="1"/>
              <a:t>SS</a:t>
            </a:r>
            <a:r>
              <a:rPr lang="en-US" sz="2400" i="1" baseline="-25000" dirty="0" err="1"/>
              <a:t>Treatments</a:t>
            </a:r>
            <a:r>
              <a:rPr lang="en-US" sz="2400" i="1" baseline="-25000" dirty="0"/>
              <a:t> </a:t>
            </a:r>
            <a:r>
              <a:rPr lang="en-US" sz="2400" dirty="0"/>
              <a:t>reflects large differences in treatment means</a:t>
            </a:r>
          </a:p>
          <a:p>
            <a:pPr>
              <a:spcBef>
                <a:spcPts val="0"/>
              </a:spcBef>
              <a:spcAft>
                <a:spcPts val="600"/>
              </a:spcAft>
            </a:pPr>
            <a:r>
              <a:rPr lang="en-US" sz="2400" dirty="0"/>
              <a:t>A small value of </a:t>
            </a:r>
            <a:r>
              <a:rPr lang="en-US" sz="2400" i="1" dirty="0" err="1"/>
              <a:t>SS</a:t>
            </a:r>
            <a:r>
              <a:rPr lang="en-US" sz="2400" i="1" baseline="-25000" dirty="0" err="1"/>
              <a:t>Treatments</a:t>
            </a:r>
            <a:r>
              <a:rPr lang="en-US" sz="2400" i="1" baseline="-25000" dirty="0"/>
              <a:t> </a:t>
            </a:r>
            <a:r>
              <a:rPr lang="en-US" sz="2400" dirty="0"/>
              <a:t> likely indicates no differences in treatment means</a:t>
            </a:r>
          </a:p>
          <a:p>
            <a:pPr>
              <a:spcBef>
                <a:spcPts val="0"/>
              </a:spcBef>
              <a:spcAft>
                <a:spcPts val="600"/>
              </a:spcAft>
            </a:pPr>
            <a:r>
              <a:rPr lang="en-US" sz="2400" dirty="0"/>
              <a:t>Formal statistical hypotheses are:</a:t>
            </a:r>
          </a:p>
          <a:p>
            <a:pPr>
              <a:lnSpc>
                <a:spcPct val="90000"/>
              </a:lnSpc>
            </a:pPr>
            <a:endParaRPr lang="en-US" sz="2400" dirty="0"/>
          </a:p>
        </p:txBody>
      </p:sp>
      <p:graphicFrame>
        <p:nvGraphicFramePr>
          <p:cNvPr id="11269" name="Object 5"/>
          <p:cNvGraphicFramePr>
            <a:graphicFrameLocks noChangeAspect="1"/>
          </p:cNvGraphicFramePr>
          <p:nvPr>
            <p:extLst>
              <p:ext uri="{D42A27DB-BD31-4B8C-83A1-F6EECF244321}">
                <p14:modId xmlns:p14="http://schemas.microsoft.com/office/powerpoint/2010/main" val="333159701"/>
              </p:ext>
            </p:extLst>
          </p:nvPr>
        </p:nvGraphicFramePr>
        <p:xfrm>
          <a:off x="3581400" y="5118100"/>
          <a:ext cx="5029200" cy="1054100"/>
        </p:xfrm>
        <a:graphic>
          <a:graphicData uri="http://schemas.openxmlformats.org/presentationml/2006/ole">
            <mc:AlternateContent xmlns:mc="http://schemas.openxmlformats.org/markup-compatibility/2006">
              <mc:Choice xmlns:v="urn:schemas-microsoft-com:vml" Requires="v">
                <p:oleObj spid="_x0000_s61452" name="Equation" r:id="rId3" imgW="2184120" imgH="457200" progId="">
                  <p:embed/>
                </p:oleObj>
              </mc:Choice>
              <mc:Fallback>
                <p:oleObj name="Equation" r:id="rId3" imgW="2184120" imgH="4572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81400" y="5118100"/>
                        <a:ext cx="5029200" cy="10541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 1"/>
          <p:cNvGrpSpPr/>
          <p:nvPr/>
        </p:nvGrpSpPr>
        <p:grpSpPr>
          <a:xfrm>
            <a:off x="3581400" y="1524000"/>
            <a:ext cx="5029200" cy="914400"/>
            <a:chOff x="3581400" y="1524000"/>
            <a:chExt cx="5029200" cy="914400"/>
          </a:xfrm>
        </p:grpSpPr>
        <p:graphicFrame>
          <p:nvGraphicFramePr>
            <p:cNvPr id="11268" name="Object 4"/>
            <p:cNvGraphicFramePr>
              <a:graphicFrameLocks noChangeAspect="1"/>
            </p:cNvGraphicFramePr>
            <p:nvPr>
              <p:extLst>
                <p:ext uri="{D42A27DB-BD31-4B8C-83A1-F6EECF244321}">
                  <p14:modId xmlns:p14="http://schemas.microsoft.com/office/powerpoint/2010/main" val="2664152088"/>
                </p:ext>
              </p:extLst>
            </p:nvPr>
          </p:nvGraphicFramePr>
          <p:xfrm>
            <a:off x="3810000" y="1600200"/>
            <a:ext cx="4572000" cy="762000"/>
          </p:xfrm>
          <a:graphic>
            <a:graphicData uri="http://schemas.openxmlformats.org/presentationml/2006/ole">
              <mc:AlternateContent xmlns:mc="http://schemas.openxmlformats.org/markup-compatibility/2006">
                <mc:Choice xmlns:v="urn:schemas-microsoft-com:vml" Requires="v">
                  <p:oleObj spid="_x0000_s61453" name="Equation" r:id="rId5" imgW="1371600" imgH="228600" progId="">
                    <p:embed/>
                  </p:oleObj>
                </mc:Choice>
                <mc:Fallback>
                  <p:oleObj name="Equation" r:id="rId5" imgW="1371600" imgH="228600" progId="">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10000" y="1600200"/>
                          <a:ext cx="4572000" cy="762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1270" name="Rectangle 6"/>
            <p:cNvSpPr>
              <a:spLocks noChangeArrowheads="1"/>
            </p:cNvSpPr>
            <p:nvPr/>
          </p:nvSpPr>
          <p:spPr bwMode="auto">
            <a:xfrm>
              <a:off x="3581400" y="1524000"/>
              <a:ext cx="5029200" cy="914400"/>
            </a:xfrm>
            <a:prstGeom prst="rect">
              <a:avLst/>
            </a:prstGeom>
            <a:noFill/>
            <a:ln w="28575">
              <a:solidFill>
                <a:schemeClr val="accent2"/>
              </a:solidFill>
              <a:miter lim="800000"/>
              <a:headEnd/>
              <a:tailEnd/>
            </a:ln>
            <a:effectLst/>
          </p:spPr>
          <p:txBody>
            <a:bodyPr wrap="none" anchor="ctr"/>
            <a:lstStyle/>
            <a:p>
              <a:endParaRPr lang="en-US"/>
            </a:p>
          </p:txBody>
        </p:sp>
      </p:grpSp>
    </p:spTree>
    <p:extLst>
      <p:ext uri="{BB962C8B-B14F-4D97-AF65-F5344CB8AC3E}">
        <p14:creationId xmlns:p14="http://schemas.microsoft.com/office/powerpoint/2010/main" val="57635056"/>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Grp="1" noChangeArrowheads="1"/>
          </p:cNvSpPr>
          <p:nvPr>
            <p:ph type="title"/>
          </p:nvPr>
        </p:nvSpPr>
        <p:spPr>
          <a:xfrm>
            <a:off x="2209800" y="0"/>
            <a:ext cx="7772400" cy="914400"/>
          </a:xfrm>
        </p:spPr>
        <p:txBody>
          <a:bodyPr/>
          <a:lstStyle/>
          <a:p>
            <a:r>
              <a:rPr lang="en-US" sz="3600" b="1" dirty="0"/>
              <a:t>The Analysis of Variance</a:t>
            </a:r>
          </a:p>
        </p:txBody>
      </p:sp>
      <p:sp>
        <p:nvSpPr>
          <p:cNvPr id="12291" name="Rectangle 3"/>
          <p:cNvSpPr>
            <a:spLocks noGrp="1" noChangeArrowheads="1"/>
          </p:cNvSpPr>
          <p:nvPr>
            <p:ph type="body" sz="half" idx="2"/>
          </p:nvPr>
        </p:nvSpPr>
        <p:spPr>
          <a:xfrm>
            <a:off x="1524000" y="914400"/>
            <a:ext cx="9144000" cy="2209800"/>
          </a:xfrm>
        </p:spPr>
        <p:txBody>
          <a:bodyPr/>
          <a:lstStyle/>
          <a:p>
            <a:pPr>
              <a:spcBef>
                <a:spcPts val="0"/>
              </a:spcBef>
              <a:spcAft>
                <a:spcPts val="600"/>
              </a:spcAft>
            </a:pPr>
            <a:r>
              <a:rPr lang="en-US" sz="2400" dirty="0"/>
              <a:t>While sums of squares cannot be directly compared to test the hypothesis of equal means, </a:t>
            </a:r>
            <a:r>
              <a:rPr lang="en-US" sz="2400" b="1" dirty="0">
                <a:solidFill>
                  <a:schemeClr val="accent2"/>
                </a:solidFill>
              </a:rPr>
              <a:t>mean squares</a:t>
            </a:r>
            <a:r>
              <a:rPr lang="en-US" sz="2400" dirty="0"/>
              <a:t> can be compared.</a:t>
            </a:r>
          </a:p>
          <a:p>
            <a:pPr>
              <a:spcBef>
                <a:spcPts val="0"/>
              </a:spcBef>
              <a:spcAft>
                <a:spcPts val="600"/>
              </a:spcAft>
            </a:pPr>
            <a:r>
              <a:rPr lang="en-US" sz="2400" dirty="0"/>
              <a:t>A mean square is a sum of squares divided by its degrees of freedom:</a:t>
            </a:r>
          </a:p>
          <a:p>
            <a:pPr>
              <a:spcBef>
                <a:spcPts val="0"/>
              </a:spcBef>
              <a:spcAft>
                <a:spcPts val="600"/>
              </a:spcAft>
            </a:pPr>
            <a:endParaRPr lang="en-US" sz="2400" dirty="0"/>
          </a:p>
          <a:p>
            <a:pPr>
              <a:spcBef>
                <a:spcPts val="0"/>
              </a:spcBef>
              <a:spcAft>
                <a:spcPts val="600"/>
              </a:spcAft>
            </a:pPr>
            <a:endParaRPr lang="en-US" sz="2400" dirty="0"/>
          </a:p>
          <a:p>
            <a:pPr>
              <a:spcBef>
                <a:spcPts val="0"/>
              </a:spcBef>
              <a:spcAft>
                <a:spcPts val="600"/>
              </a:spcAft>
            </a:pPr>
            <a:endParaRPr lang="en-US" sz="2400" dirty="0"/>
          </a:p>
          <a:p>
            <a:pPr>
              <a:spcBef>
                <a:spcPts val="0"/>
              </a:spcBef>
              <a:spcAft>
                <a:spcPts val="600"/>
              </a:spcAft>
            </a:pPr>
            <a:endParaRPr lang="en-US" sz="2400" dirty="0"/>
          </a:p>
          <a:p>
            <a:pPr>
              <a:spcBef>
                <a:spcPts val="0"/>
              </a:spcBef>
              <a:spcAft>
                <a:spcPts val="600"/>
              </a:spcAft>
            </a:pPr>
            <a:endParaRPr lang="en-US" sz="2400" dirty="0"/>
          </a:p>
          <a:p>
            <a:pPr>
              <a:spcBef>
                <a:spcPts val="0"/>
              </a:spcBef>
              <a:spcAft>
                <a:spcPts val="600"/>
              </a:spcAft>
            </a:pPr>
            <a:endParaRPr lang="en-US" sz="2400" dirty="0"/>
          </a:p>
          <a:p>
            <a:pPr>
              <a:spcBef>
                <a:spcPts val="0"/>
              </a:spcBef>
              <a:spcAft>
                <a:spcPts val="600"/>
              </a:spcAft>
            </a:pPr>
            <a:r>
              <a:rPr lang="en-US" sz="2400" dirty="0"/>
              <a:t>If the treatment means are equal, the treatment and error mean squares will be (theoretically) equal. </a:t>
            </a:r>
          </a:p>
          <a:p>
            <a:pPr>
              <a:spcBef>
                <a:spcPts val="0"/>
              </a:spcBef>
              <a:spcAft>
                <a:spcPts val="600"/>
              </a:spcAft>
            </a:pPr>
            <a:r>
              <a:rPr lang="en-US" sz="2400" dirty="0"/>
              <a:t>If treatment means differ, the treatment mean square will be larger than the error mean square.</a:t>
            </a:r>
          </a:p>
        </p:txBody>
      </p:sp>
      <p:graphicFrame>
        <p:nvGraphicFramePr>
          <p:cNvPr id="12292" name="Object 4"/>
          <p:cNvGraphicFramePr>
            <a:graphicFrameLocks noChangeAspect="1"/>
          </p:cNvGraphicFramePr>
          <p:nvPr>
            <p:extLst>
              <p:ext uri="{D42A27DB-BD31-4B8C-83A1-F6EECF244321}">
                <p14:modId xmlns:p14="http://schemas.microsoft.com/office/powerpoint/2010/main" val="1193453936"/>
              </p:ext>
            </p:extLst>
          </p:nvPr>
        </p:nvGraphicFramePr>
        <p:xfrm>
          <a:off x="3379787" y="2590800"/>
          <a:ext cx="5459413" cy="1927225"/>
        </p:xfrm>
        <a:graphic>
          <a:graphicData uri="http://schemas.openxmlformats.org/presentationml/2006/ole">
            <mc:AlternateContent xmlns:mc="http://schemas.openxmlformats.org/markup-compatibility/2006">
              <mc:Choice xmlns:v="urn:schemas-microsoft-com:vml" Requires="v">
                <p:oleObj spid="_x0000_s62472" name="Equation" r:id="rId3" imgW="2412720" imgH="888840" progId="">
                  <p:embed/>
                </p:oleObj>
              </mc:Choice>
              <mc:Fallback>
                <p:oleObj name="Equation" r:id="rId3" imgW="2412720" imgH="88884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9787" y="2590800"/>
                        <a:ext cx="5459413" cy="1927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5088121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a:xfrm>
            <a:off x="2209800" y="0"/>
            <a:ext cx="7772400" cy="1463040"/>
          </a:xfrm>
        </p:spPr>
        <p:txBody>
          <a:bodyPr/>
          <a:lstStyle/>
          <a:p>
            <a:r>
              <a:rPr lang="en-US" sz="3600" b="1" dirty="0"/>
              <a:t>The Analysis of Variance </a:t>
            </a:r>
            <a:r>
              <a:rPr lang="en-US" sz="3600" b="1" dirty="0" smtClean="0"/>
              <a:t/>
            </a:r>
            <a:br>
              <a:rPr lang="en-US" sz="3600" b="1" dirty="0" smtClean="0"/>
            </a:br>
            <a:r>
              <a:rPr lang="en-US" sz="3600" b="1" dirty="0" smtClean="0"/>
              <a:t>is </a:t>
            </a:r>
            <a:r>
              <a:rPr lang="en-US" sz="3600" b="1" dirty="0"/>
              <a:t>Summarized in a Table</a:t>
            </a:r>
          </a:p>
        </p:txBody>
      </p:sp>
      <p:sp>
        <p:nvSpPr>
          <p:cNvPr id="13315" name="Rectangle 3"/>
          <p:cNvSpPr>
            <a:spLocks noGrp="1" noChangeArrowheads="1"/>
          </p:cNvSpPr>
          <p:nvPr>
            <p:ph type="body" sz="half" idx="2"/>
          </p:nvPr>
        </p:nvSpPr>
        <p:spPr>
          <a:xfrm>
            <a:off x="1676400" y="4572000"/>
            <a:ext cx="8839200" cy="1090612"/>
          </a:xfrm>
        </p:spPr>
        <p:txBody>
          <a:bodyPr/>
          <a:lstStyle/>
          <a:p>
            <a:pPr>
              <a:lnSpc>
                <a:spcPct val="90000"/>
              </a:lnSpc>
            </a:pPr>
            <a:r>
              <a:rPr lang="en-US" sz="2400" dirty="0"/>
              <a:t>Computing…see text, pp </a:t>
            </a:r>
            <a:r>
              <a:rPr lang="en-US" sz="2400" dirty="0" smtClean="0"/>
              <a:t>74</a:t>
            </a:r>
            <a:endParaRPr lang="en-US" sz="2400" dirty="0"/>
          </a:p>
          <a:p>
            <a:pPr>
              <a:lnSpc>
                <a:spcPct val="90000"/>
              </a:lnSpc>
            </a:pPr>
            <a:r>
              <a:rPr lang="en-US" sz="2400" dirty="0"/>
              <a:t>The </a:t>
            </a:r>
            <a:r>
              <a:rPr lang="en-US" sz="2400" b="1" dirty="0">
                <a:solidFill>
                  <a:schemeClr val="accent2"/>
                </a:solidFill>
              </a:rPr>
              <a:t>reference distribution</a:t>
            </a:r>
            <a:r>
              <a:rPr lang="en-US" sz="2400" dirty="0"/>
              <a:t> for </a:t>
            </a:r>
            <a:r>
              <a:rPr lang="en-US" sz="2400" i="1" dirty="0"/>
              <a:t>F</a:t>
            </a:r>
            <a:r>
              <a:rPr lang="en-US" sz="2400" baseline="-25000" dirty="0"/>
              <a:t>0 </a:t>
            </a:r>
            <a:r>
              <a:rPr lang="en-US" sz="2400" dirty="0"/>
              <a:t>is the </a:t>
            </a:r>
            <a:r>
              <a:rPr lang="en-US" sz="2400" i="1" dirty="0"/>
              <a:t>F</a:t>
            </a:r>
            <a:r>
              <a:rPr lang="en-US" sz="2400" i="1" baseline="-25000" dirty="0"/>
              <a:t>a</a:t>
            </a:r>
            <a:r>
              <a:rPr lang="en-US" sz="2400" baseline="-25000" dirty="0"/>
              <a:t>-1,</a:t>
            </a:r>
            <a:r>
              <a:rPr lang="en-US" sz="2400" i="1" baseline="-25000" dirty="0"/>
              <a:t> a</a:t>
            </a:r>
            <a:r>
              <a:rPr lang="en-US" sz="2400" baseline="-25000" dirty="0"/>
              <a:t>(</a:t>
            </a:r>
            <a:r>
              <a:rPr lang="en-US" sz="2400" i="1" baseline="-25000" dirty="0"/>
              <a:t>n-</a:t>
            </a:r>
            <a:r>
              <a:rPr lang="en-US" sz="2400" baseline="-25000" dirty="0"/>
              <a:t>1)</a:t>
            </a:r>
            <a:r>
              <a:rPr lang="en-US" sz="2400" dirty="0"/>
              <a:t> distribution</a:t>
            </a:r>
          </a:p>
          <a:p>
            <a:pPr>
              <a:lnSpc>
                <a:spcPct val="90000"/>
              </a:lnSpc>
            </a:pPr>
            <a:r>
              <a:rPr lang="en-US" sz="2400" b="1" dirty="0">
                <a:solidFill>
                  <a:schemeClr val="accent2"/>
                </a:solidFill>
              </a:rPr>
              <a:t>Reject</a:t>
            </a:r>
            <a:r>
              <a:rPr lang="en-US" sz="2400" dirty="0"/>
              <a:t> the null hypothesis (equal treatment means) if </a:t>
            </a:r>
          </a:p>
        </p:txBody>
      </p:sp>
      <p:graphicFrame>
        <p:nvGraphicFramePr>
          <p:cNvPr id="13317" name="Object 5"/>
          <p:cNvGraphicFramePr>
            <a:graphicFrameLocks noChangeAspect="1"/>
          </p:cNvGraphicFramePr>
          <p:nvPr>
            <p:extLst>
              <p:ext uri="{D42A27DB-BD31-4B8C-83A1-F6EECF244321}">
                <p14:modId xmlns:p14="http://schemas.microsoft.com/office/powerpoint/2010/main" val="3869610431"/>
              </p:ext>
            </p:extLst>
          </p:nvPr>
        </p:nvGraphicFramePr>
        <p:xfrm>
          <a:off x="5181600" y="5930900"/>
          <a:ext cx="1828800" cy="469900"/>
        </p:xfrm>
        <a:graphic>
          <a:graphicData uri="http://schemas.openxmlformats.org/presentationml/2006/ole">
            <mc:AlternateContent xmlns:mc="http://schemas.openxmlformats.org/markup-compatibility/2006">
              <mc:Choice xmlns:v="urn:schemas-microsoft-com:vml" Requires="v">
                <p:oleObj spid="_x0000_s63495" name="Equation" r:id="rId3" imgW="939600" imgH="241200" progId="">
                  <p:embed/>
                </p:oleObj>
              </mc:Choice>
              <mc:Fallback>
                <p:oleObj name="Equation" r:id="rId3" imgW="939600" imgH="2412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181600" y="5930900"/>
                        <a:ext cx="1828800" cy="4699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3318" name="Picture 6"/>
          <p:cNvPicPr>
            <a:picLocks noChangeAspect="1" noChangeArrowheads="1"/>
          </p:cNvPicPr>
          <p:nvPr/>
        </p:nvPicPr>
        <p:blipFill>
          <a:blip r:embed="rId5" cstate="print"/>
          <a:srcRect/>
          <a:stretch>
            <a:fillRect/>
          </a:stretch>
        </p:blipFill>
        <p:spPr bwMode="auto">
          <a:xfrm>
            <a:off x="2362200" y="1524000"/>
            <a:ext cx="7498080" cy="2926641"/>
          </a:xfrm>
          <a:prstGeom prst="rect">
            <a:avLst/>
          </a:prstGeom>
          <a:noFill/>
          <a:ln w="9525">
            <a:noFill/>
            <a:miter lim="800000"/>
            <a:headEnd/>
            <a:tailEnd/>
          </a:ln>
          <a:effectLst/>
        </p:spPr>
      </p:pic>
    </p:spTree>
    <p:extLst>
      <p:ext uri="{BB962C8B-B14F-4D97-AF65-F5344CB8AC3E}">
        <p14:creationId xmlns:p14="http://schemas.microsoft.com/office/powerpoint/2010/main" val="137455883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1752600" y="0"/>
            <a:ext cx="5791200" cy="914400"/>
          </a:xfrm>
        </p:spPr>
        <p:txBody>
          <a:bodyPr anchor="t"/>
          <a:lstStyle/>
          <a:p>
            <a:pPr algn="l"/>
            <a:r>
              <a:rPr lang="en-US" sz="3600" b="1" dirty="0"/>
              <a:t>ANOVA </a:t>
            </a:r>
            <a:r>
              <a:rPr lang="en-US" sz="3600" b="1" dirty="0" smtClean="0"/>
              <a:t>Table Example </a:t>
            </a:r>
            <a:r>
              <a:rPr lang="en-US" sz="3600" b="1" dirty="0"/>
              <a:t>3-1</a:t>
            </a:r>
          </a:p>
        </p:txBody>
      </p:sp>
      <p:pic>
        <p:nvPicPr>
          <p:cNvPr id="14341" name="Picture 5"/>
          <p:cNvPicPr>
            <a:picLocks noGrp="1" noChangeAspect="1" noChangeArrowheads="1"/>
          </p:cNvPicPr>
          <p:nvPr>
            <p:ph idx="1"/>
          </p:nvPr>
        </p:nvPicPr>
        <p:blipFill>
          <a:blip r:embed="rId2" cstate="print">
            <a:clrChange>
              <a:clrFrom>
                <a:srgbClr val="E5E5E5"/>
              </a:clrFrom>
              <a:clrTo>
                <a:srgbClr val="E5E5E5">
                  <a:alpha val="0"/>
                </a:srgbClr>
              </a:clrTo>
            </a:clrChange>
          </a:blip>
          <a:srcRect/>
          <a:stretch>
            <a:fillRect/>
          </a:stretch>
        </p:blipFill>
        <p:spPr>
          <a:xfrm>
            <a:off x="1524000" y="1066800"/>
            <a:ext cx="9144000" cy="2529974"/>
          </a:xfrm>
          <a:noFill/>
          <a:ln/>
        </p:spPr>
      </p:pic>
      <p:pic>
        <p:nvPicPr>
          <p:cNvPr id="14342" name="Picture 6"/>
          <p:cNvPicPr>
            <a:picLocks noChangeAspect="1" noChangeArrowheads="1"/>
          </p:cNvPicPr>
          <p:nvPr/>
        </p:nvPicPr>
        <p:blipFill>
          <a:blip r:embed="rId3" cstate="print">
            <a:clrChange>
              <a:clrFrom>
                <a:srgbClr val="E5E5E5"/>
              </a:clrFrom>
              <a:clrTo>
                <a:srgbClr val="E5E5E5">
                  <a:alpha val="0"/>
                </a:srgbClr>
              </a:clrTo>
            </a:clrChange>
          </a:blip>
          <a:srcRect/>
          <a:stretch>
            <a:fillRect/>
          </a:stretch>
        </p:blipFill>
        <p:spPr bwMode="auto">
          <a:xfrm>
            <a:off x="1524000" y="3810000"/>
            <a:ext cx="9144000" cy="2341145"/>
          </a:xfrm>
          <a:prstGeom prst="rect">
            <a:avLst/>
          </a:prstGeom>
          <a:noFill/>
          <a:ln w="9525">
            <a:noFill/>
            <a:miter lim="800000"/>
            <a:headEnd/>
            <a:tailEnd/>
          </a:ln>
          <a:effectLst/>
        </p:spPr>
      </p:pic>
    </p:spTree>
    <p:extLst>
      <p:ext uri="{BB962C8B-B14F-4D97-AF65-F5344CB8AC3E}">
        <p14:creationId xmlns:p14="http://schemas.microsoft.com/office/powerpoint/2010/main" val="223398299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ext Box 2"/>
          <p:cNvSpPr txBox="1">
            <a:spLocks noChangeArrowheads="1"/>
          </p:cNvSpPr>
          <p:nvPr/>
        </p:nvSpPr>
        <p:spPr bwMode="auto">
          <a:xfrm>
            <a:off x="3124200" y="381000"/>
            <a:ext cx="5943600" cy="646331"/>
          </a:xfrm>
          <a:prstGeom prst="rect">
            <a:avLst/>
          </a:prstGeom>
          <a:noFill/>
          <a:ln w="9525">
            <a:noFill/>
            <a:miter lim="800000"/>
            <a:headEnd/>
            <a:tailEnd/>
          </a:ln>
          <a:effectLst/>
        </p:spPr>
        <p:txBody>
          <a:bodyPr wrap="square">
            <a:spAutoFit/>
          </a:bodyPr>
          <a:lstStyle/>
          <a:p>
            <a:pPr algn="ctr" eaLnBrk="0" hangingPunct="0">
              <a:spcBef>
                <a:spcPct val="50000"/>
              </a:spcBef>
            </a:pPr>
            <a:r>
              <a:rPr lang="en-US" sz="3600" b="1" dirty="0">
                <a:solidFill>
                  <a:schemeClr val="tx2"/>
                </a:solidFill>
              </a:rPr>
              <a:t>The Reference Distribution:</a:t>
            </a:r>
          </a:p>
        </p:txBody>
      </p:sp>
      <p:pic>
        <p:nvPicPr>
          <p:cNvPr id="15365" name="Picture 5"/>
          <p:cNvPicPr>
            <a:picLocks noGrp="1" noChangeAspect="1" noChangeArrowheads="1"/>
          </p:cNvPicPr>
          <p:nvPr>
            <p:ph/>
          </p:nvPr>
        </p:nvPicPr>
        <p:blipFill>
          <a:blip r:embed="rId2" cstate="print">
            <a:clrChange>
              <a:clrFrom>
                <a:srgbClr val="E5E5E5"/>
              </a:clrFrom>
              <a:clrTo>
                <a:srgbClr val="E5E5E5">
                  <a:alpha val="0"/>
                </a:srgbClr>
              </a:clrTo>
            </a:clrChange>
          </a:blip>
          <a:srcRect/>
          <a:stretch>
            <a:fillRect/>
          </a:stretch>
        </p:blipFill>
        <p:spPr>
          <a:xfrm>
            <a:off x="2133600" y="1109662"/>
            <a:ext cx="7920038" cy="5138738"/>
          </a:xfrm>
          <a:noFill/>
          <a:ln/>
        </p:spPr>
      </p:pic>
      <p:sp>
        <p:nvSpPr>
          <p:cNvPr id="15366" name="Text Box 6"/>
          <p:cNvSpPr txBox="1">
            <a:spLocks noChangeArrowheads="1"/>
          </p:cNvSpPr>
          <p:nvPr/>
        </p:nvSpPr>
        <p:spPr bwMode="auto">
          <a:xfrm>
            <a:off x="7162800" y="2514601"/>
            <a:ext cx="1371600" cy="461665"/>
          </a:xfrm>
          <a:prstGeom prst="rect">
            <a:avLst/>
          </a:prstGeom>
          <a:noFill/>
          <a:ln w="9525">
            <a:noFill/>
            <a:miter lim="800000"/>
            <a:headEnd/>
            <a:tailEnd/>
          </a:ln>
          <a:effectLst/>
        </p:spPr>
        <p:txBody>
          <a:bodyPr>
            <a:spAutoFit/>
          </a:bodyPr>
          <a:lstStyle/>
          <a:p>
            <a:pPr>
              <a:spcBef>
                <a:spcPct val="50000"/>
              </a:spcBef>
            </a:pPr>
            <a:r>
              <a:rPr lang="en-US" i="1"/>
              <a:t>P</a:t>
            </a:r>
            <a:r>
              <a:rPr lang="en-US"/>
              <a:t>-value</a:t>
            </a:r>
            <a:endParaRPr lang="en-US" i="1"/>
          </a:p>
        </p:txBody>
      </p:sp>
      <p:sp>
        <p:nvSpPr>
          <p:cNvPr id="15367" name="Line 7"/>
          <p:cNvSpPr>
            <a:spLocks noChangeShapeType="1"/>
          </p:cNvSpPr>
          <p:nvPr/>
        </p:nvSpPr>
        <p:spPr bwMode="auto">
          <a:xfrm>
            <a:off x="7620000" y="2895600"/>
            <a:ext cx="685800" cy="1447800"/>
          </a:xfrm>
          <a:prstGeom prst="line">
            <a:avLst/>
          </a:prstGeom>
          <a:noFill/>
          <a:ln w="9525">
            <a:solidFill>
              <a:schemeClr val="tx1"/>
            </a:solidFill>
            <a:round/>
            <a:headEnd/>
            <a:tailEnd type="triangle" w="med" len="med"/>
          </a:ln>
          <a:effectLst/>
        </p:spPr>
        <p:txBody>
          <a:bodyPr/>
          <a:lstStyle/>
          <a:p>
            <a:endParaRPr lang="en-US"/>
          </a:p>
        </p:txBody>
      </p:sp>
    </p:spTree>
    <p:extLst>
      <p:ext uri="{BB962C8B-B14F-4D97-AF65-F5344CB8AC3E}">
        <p14:creationId xmlns:p14="http://schemas.microsoft.com/office/powerpoint/2010/main" val="3298841082"/>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p:nvPr>
        </p:nvSpPr>
        <p:spPr>
          <a:xfrm>
            <a:off x="914400" y="0"/>
            <a:ext cx="10363200" cy="914400"/>
          </a:xfrm>
        </p:spPr>
        <p:txBody>
          <a:bodyPr/>
          <a:lstStyle/>
          <a:p>
            <a:r>
              <a:rPr lang="en-US" sz="3600" b="1" dirty="0"/>
              <a:t>ANOVA</a:t>
            </a:r>
            <a:r>
              <a:rPr lang="en-US" sz="3600" dirty="0"/>
              <a:t> calculations are usually done via computer</a:t>
            </a:r>
          </a:p>
        </p:txBody>
      </p:sp>
      <p:sp>
        <p:nvSpPr>
          <p:cNvPr id="16387" name="Rectangle 3"/>
          <p:cNvSpPr>
            <a:spLocks noGrp="1" noChangeArrowheads="1"/>
          </p:cNvSpPr>
          <p:nvPr>
            <p:ph type="body" idx="1"/>
          </p:nvPr>
        </p:nvSpPr>
        <p:spPr>
          <a:xfrm>
            <a:off x="914400" y="1600200"/>
            <a:ext cx="10363200" cy="4114800"/>
          </a:xfrm>
        </p:spPr>
        <p:txBody>
          <a:bodyPr/>
          <a:lstStyle/>
          <a:p>
            <a:r>
              <a:rPr lang="en-US" sz="2800" dirty="0"/>
              <a:t>Text exhibits sample calculations from three very popular software packages, </a:t>
            </a:r>
            <a:r>
              <a:rPr lang="en-US" sz="2800" dirty="0" smtClean="0"/>
              <a:t>Design-Expert </a:t>
            </a:r>
            <a:r>
              <a:rPr lang="en-US" sz="2800" dirty="0"/>
              <a:t>and Minitab</a:t>
            </a:r>
          </a:p>
          <a:p>
            <a:r>
              <a:rPr lang="en-US" sz="2800" dirty="0"/>
              <a:t>See pages </a:t>
            </a:r>
            <a:r>
              <a:rPr lang="en-US" sz="2800" dirty="0" smtClean="0"/>
              <a:t>100-102</a:t>
            </a:r>
            <a:endParaRPr lang="en-US" sz="2800" dirty="0"/>
          </a:p>
          <a:p>
            <a:r>
              <a:rPr lang="en-US" sz="2800" dirty="0"/>
              <a:t>Text discusses some of the summary statistics provided by these packages</a:t>
            </a:r>
          </a:p>
        </p:txBody>
      </p:sp>
    </p:spTree>
    <p:extLst>
      <p:ext uri="{BB962C8B-B14F-4D97-AF65-F5344CB8AC3E}">
        <p14:creationId xmlns:p14="http://schemas.microsoft.com/office/powerpoint/2010/main" val="683813741"/>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Rectangle 2"/>
          <p:cNvSpPr>
            <a:spLocks noGrp="1" noChangeArrowheads="1"/>
          </p:cNvSpPr>
          <p:nvPr>
            <p:ph type="title"/>
          </p:nvPr>
        </p:nvSpPr>
        <p:spPr>
          <a:xfrm>
            <a:off x="914400" y="0"/>
            <a:ext cx="10363200" cy="1463040"/>
          </a:xfrm>
        </p:spPr>
        <p:txBody>
          <a:bodyPr/>
          <a:lstStyle/>
          <a:p>
            <a:r>
              <a:rPr lang="en-US" sz="3600" b="1" dirty="0"/>
              <a:t>Model Adequacy Checking in the ANOVA</a:t>
            </a:r>
            <a:br>
              <a:rPr lang="en-US" sz="3600" b="1" dirty="0"/>
            </a:br>
            <a:r>
              <a:rPr lang="en-US" sz="3600" dirty="0"/>
              <a:t>Text reference, Section 3.4, pg. </a:t>
            </a:r>
            <a:r>
              <a:rPr lang="en-US" sz="3600" dirty="0" smtClean="0"/>
              <a:t>78</a:t>
            </a:r>
            <a:endParaRPr lang="en-US" sz="3600" dirty="0"/>
          </a:p>
        </p:txBody>
      </p:sp>
      <p:sp>
        <p:nvSpPr>
          <p:cNvPr id="17411" name="Rectangle 3"/>
          <p:cNvSpPr>
            <a:spLocks noGrp="1" noChangeArrowheads="1"/>
          </p:cNvSpPr>
          <p:nvPr>
            <p:ph type="body" idx="1"/>
          </p:nvPr>
        </p:nvSpPr>
        <p:spPr>
          <a:xfrm>
            <a:off x="2209800" y="1752600"/>
            <a:ext cx="7772400" cy="4114800"/>
          </a:xfrm>
        </p:spPr>
        <p:txBody>
          <a:bodyPr/>
          <a:lstStyle/>
          <a:p>
            <a:r>
              <a:rPr lang="en-US" sz="2800" b="1" dirty="0">
                <a:solidFill>
                  <a:schemeClr val="accent2"/>
                </a:solidFill>
              </a:rPr>
              <a:t>Checking assumptions</a:t>
            </a:r>
            <a:r>
              <a:rPr lang="en-US" sz="2800" dirty="0"/>
              <a:t> is important</a:t>
            </a:r>
          </a:p>
          <a:p>
            <a:r>
              <a:rPr lang="en-US" sz="2800" dirty="0"/>
              <a:t>Normality</a:t>
            </a:r>
          </a:p>
          <a:p>
            <a:r>
              <a:rPr lang="en-US" sz="2800" dirty="0"/>
              <a:t>Constant variance</a:t>
            </a:r>
          </a:p>
          <a:p>
            <a:r>
              <a:rPr lang="en-US" sz="2800" dirty="0"/>
              <a:t>Independence</a:t>
            </a:r>
          </a:p>
          <a:p>
            <a:r>
              <a:rPr lang="en-US" sz="2800" dirty="0"/>
              <a:t>Have we fit the right model?</a:t>
            </a:r>
          </a:p>
          <a:p>
            <a:r>
              <a:rPr lang="en-US" sz="2800" dirty="0"/>
              <a:t>Later we will talk about what to do if some of these assumptions are </a:t>
            </a:r>
            <a:r>
              <a:rPr lang="en-US" sz="2800" b="1" dirty="0">
                <a:solidFill>
                  <a:schemeClr val="accent2"/>
                </a:solidFill>
              </a:rPr>
              <a:t>violated</a:t>
            </a:r>
          </a:p>
        </p:txBody>
      </p:sp>
    </p:spTree>
    <p:extLst>
      <p:ext uri="{BB962C8B-B14F-4D97-AF65-F5344CB8AC3E}">
        <p14:creationId xmlns:p14="http://schemas.microsoft.com/office/powerpoint/2010/main" val="337508456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1600200" y="0"/>
            <a:ext cx="8991600" cy="914400"/>
          </a:xfrm>
        </p:spPr>
        <p:txBody>
          <a:bodyPr/>
          <a:lstStyle/>
          <a:p>
            <a:r>
              <a:rPr lang="en-US" sz="3600" b="1" dirty="0"/>
              <a:t>Model Adequacy Checking in the ANOVA</a:t>
            </a:r>
          </a:p>
        </p:txBody>
      </p:sp>
      <p:sp>
        <p:nvSpPr>
          <p:cNvPr id="18435" name="Rectangle 3"/>
          <p:cNvSpPr>
            <a:spLocks noGrp="1" noChangeArrowheads="1"/>
          </p:cNvSpPr>
          <p:nvPr>
            <p:ph type="body" idx="1"/>
          </p:nvPr>
        </p:nvSpPr>
        <p:spPr>
          <a:xfrm>
            <a:off x="1371600" y="1295400"/>
            <a:ext cx="4419600" cy="4648200"/>
          </a:xfrm>
          <a:ln w="28575">
            <a:solidFill>
              <a:schemeClr val="accent2"/>
            </a:solidFill>
          </a:ln>
        </p:spPr>
        <p:txBody>
          <a:bodyPr/>
          <a:lstStyle/>
          <a:p>
            <a:r>
              <a:rPr lang="en-US" sz="2400" dirty="0"/>
              <a:t>Examination of </a:t>
            </a:r>
            <a:r>
              <a:rPr lang="en-US" sz="2400" b="1" dirty="0">
                <a:solidFill>
                  <a:schemeClr val="accent2"/>
                </a:solidFill>
              </a:rPr>
              <a:t>residuals </a:t>
            </a:r>
            <a:r>
              <a:rPr lang="en-US" sz="2400" dirty="0"/>
              <a:t>(see text, Sec. 3-4, pg. 75) </a:t>
            </a:r>
          </a:p>
          <a:p>
            <a:endParaRPr lang="en-US" sz="2400" dirty="0"/>
          </a:p>
          <a:p>
            <a:pPr>
              <a:buFontTx/>
              <a:buNone/>
            </a:pPr>
            <a:endParaRPr lang="en-US" sz="2400" dirty="0"/>
          </a:p>
          <a:p>
            <a:endParaRPr lang="en-US" sz="2400" dirty="0"/>
          </a:p>
          <a:p>
            <a:endParaRPr lang="en-US" sz="2400" dirty="0"/>
          </a:p>
          <a:p>
            <a:r>
              <a:rPr lang="en-US" sz="2400" dirty="0"/>
              <a:t>Computer software generates the residuals</a:t>
            </a:r>
          </a:p>
          <a:p>
            <a:r>
              <a:rPr lang="en-US" sz="2400" b="1" dirty="0">
                <a:solidFill>
                  <a:schemeClr val="accent2"/>
                </a:solidFill>
              </a:rPr>
              <a:t>Residual plots</a:t>
            </a:r>
            <a:r>
              <a:rPr lang="en-US" sz="2400" dirty="0"/>
              <a:t> are very useful</a:t>
            </a:r>
          </a:p>
          <a:p>
            <a:r>
              <a:rPr lang="en-US" sz="2400" b="1" dirty="0">
                <a:solidFill>
                  <a:schemeClr val="accent2"/>
                </a:solidFill>
              </a:rPr>
              <a:t>Normal probability plot</a:t>
            </a:r>
            <a:r>
              <a:rPr lang="en-US" sz="2400" dirty="0"/>
              <a:t> of residuals</a:t>
            </a:r>
          </a:p>
        </p:txBody>
      </p:sp>
      <p:graphicFrame>
        <p:nvGraphicFramePr>
          <p:cNvPr id="18436" name="Object 4"/>
          <p:cNvGraphicFramePr>
            <a:graphicFrameLocks noChangeAspect="1"/>
          </p:cNvGraphicFramePr>
          <p:nvPr>
            <p:extLst>
              <p:ext uri="{D42A27DB-BD31-4B8C-83A1-F6EECF244321}">
                <p14:modId xmlns:p14="http://schemas.microsoft.com/office/powerpoint/2010/main" val="1624620860"/>
              </p:ext>
            </p:extLst>
          </p:nvPr>
        </p:nvGraphicFramePr>
        <p:xfrm>
          <a:off x="2743200" y="2438400"/>
          <a:ext cx="1676400" cy="1143000"/>
        </p:xfrm>
        <a:graphic>
          <a:graphicData uri="http://schemas.openxmlformats.org/presentationml/2006/ole">
            <mc:AlternateContent xmlns:mc="http://schemas.openxmlformats.org/markup-compatibility/2006">
              <mc:Choice xmlns:v="urn:schemas-microsoft-com:vml" Requires="v">
                <p:oleObj spid="_x0000_s64519" name="Equation" r:id="rId3" imgW="749160" imgH="482400" progId="">
                  <p:embed/>
                </p:oleObj>
              </mc:Choice>
              <mc:Fallback>
                <p:oleObj name="Equation" r:id="rId3" imgW="749160" imgH="482400" progId="">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2438400"/>
                        <a:ext cx="1676400" cy="1143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8438" name="Picture 6"/>
          <p:cNvPicPr>
            <a:picLocks noChangeAspect="1" noChangeArrowheads="1"/>
          </p:cNvPicPr>
          <p:nvPr/>
        </p:nvPicPr>
        <p:blipFill>
          <a:blip r:embed="rId5" cstate="print"/>
          <a:srcRect/>
          <a:stretch>
            <a:fillRect/>
          </a:stretch>
        </p:blipFill>
        <p:spPr bwMode="auto">
          <a:xfrm>
            <a:off x="5943600" y="1849437"/>
            <a:ext cx="5334000" cy="3636963"/>
          </a:xfrm>
          <a:prstGeom prst="rect">
            <a:avLst/>
          </a:prstGeom>
          <a:noFill/>
          <a:ln w="9525">
            <a:noFill/>
            <a:miter lim="800000"/>
            <a:headEnd/>
            <a:tailEnd/>
          </a:ln>
          <a:effectLst/>
        </p:spPr>
      </p:pic>
    </p:spTree>
    <p:extLst>
      <p:ext uri="{BB962C8B-B14F-4D97-AF65-F5344CB8AC3E}">
        <p14:creationId xmlns:p14="http://schemas.microsoft.com/office/powerpoint/2010/main" val="3248714753"/>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a:xfrm>
            <a:off x="914400" y="0"/>
            <a:ext cx="10363200" cy="914400"/>
          </a:xfrm>
        </p:spPr>
        <p:txBody>
          <a:bodyPr/>
          <a:lstStyle/>
          <a:p>
            <a:r>
              <a:rPr lang="en-US" sz="3600" b="1" dirty="0"/>
              <a:t>Other Important Residual Plots</a:t>
            </a:r>
          </a:p>
        </p:txBody>
      </p:sp>
      <p:pic>
        <p:nvPicPr>
          <p:cNvPr id="19462" name="Picture 6"/>
          <p:cNvPicPr>
            <a:picLocks noGrp="1" noChangeAspect="1" noChangeArrowheads="1"/>
          </p:cNvPicPr>
          <p:nvPr>
            <p:ph idx="1"/>
          </p:nvPr>
        </p:nvPicPr>
        <p:blipFill>
          <a:blip r:embed="rId2" cstate="print"/>
          <a:srcRect/>
          <a:stretch>
            <a:fillRect/>
          </a:stretch>
        </p:blipFill>
        <p:spPr>
          <a:xfrm>
            <a:off x="2233614" y="1371600"/>
            <a:ext cx="7723187" cy="4525963"/>
          </a:xfrm>
          <a:noFill/>
          <a:ln/>
        </p:spPr>
      </p:pic>
    </p:spTree>
    <p:extLst>
      <p:ext uri="{BB962C8B-B14F-4D97-AF65-F5344CB8AC3E}">
        <p14:creationId xmlns:p14="http://schemas.microsoft.com/office/powerpoint/2010/main" val="241462231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a:xfrm>
            <a:off x="914400" y="0"/>
            <a:ext cx="10363200" cy="1066800"/>
          </a:xfrm>
        </p:spPr>
        <p:txBody>
          <a:bodyPr/>
          <a:lstStyle/>
          <a:p>
            <a:r>
              <a:rPr lang="en-US" sz="3600" b="1" dirty="0"/>
              <a:t>Post-ANOVA Comparison of Means</a:t>
            </a:r>
          </a:p>
        </p:txBody>
      </p:sp>
      <p:sp>
        <p:nvSpPr>
          <p:cNvPr id="20483" name="Rectangle 3"/>
          <p:cNvSpPr>
            <a:spLocks noGrp="1" noChangeArrowheads="1"/>
          </p:cNvSpPr>
          <p:nvPr>
            <p:ph type="body" idx="1"/>
          </p:nvPr>
        </p:nvSpPr>
        <p:spPr>
          <a:xfrm>
            <a:off x="1447800" y="1295400"/>
            <a:ext cx="9372600" cy="4419600"/>
          </a:xfrm>
        </p:spPr>
        <p:txBody>
          <a:bodyPr/>
          <a:lstStyle/>
          <a:p>
            <a:pPr>
              <a:lnSpc>
                <a:spcPct val="90000"/>
              </a:lnSpc>
            </a:pPr>
            <a:r>
              <a:rPr lang="en-US" sz="2400" dirty="0"/>
              <a:t>The analysis of variance tests the hypothesis of equal treatment means</a:t>
            </a:r>
          </a:p>
          <a:p>
            <a:pPr>
              <a:lnSpc>
                <a:spcPct val="90000"/>
              </a:lnSpc>
            </a:pPr>
            <a:r>
              <a:rPr lang="en-US" sz="2400" dirty="0"/>
              <a:t>Assume that residual analysis is satisfactory</a:t>
            </a:r>
          </a:p>
          <a:p>
            <a:pPr>
              <a:lnSpc>
                <a:spcPct val="90000"/>
              </a:lnSpc>
            </a:pPr>
            <a:r>
              <a:rPr lang="en-US" sz="2400" dirty="0"/>
              <a:t>If that hypothesis is rejected, we don’t know </a:t>
            </a:r>
            <a:r>
              <a:rPr lang="en-US" sz="2400" b="1" dirty="0">
                <a:solidFill>
                  <a:schemeClr val="accent2"/>
                </a:solidFill>
              </a:rPr>
              <a:t>which</a:t>
            </a:r>
            <a:r>
              <a:rPr lang="en-US" sz="2400" dirty="0"/>
              <a:t> </a:t>
            </a:r>
            <a:r>
              <a:rPr lang="en-US" sz="2400" b="1" dirty="0">
                <a:solidFill>
                  <a:schemeClr val="accent2"/>
                </a:solidFill>
              </a:rPr>
              <a:t>specific</a:t>
            </a:r>
            <a:r>
              <a:rPr lang="en-US" sz="2400" dirty="0"/>
              <a:t> </a:t>
            </a:r>
            <a:r>
              <a:rPr lang="en-US" sz="2400" b="1" dirty="0">
                <a:solidFill>
                  <a:schemeClr val="accent2"/>
                </a:solidFill>
              </a:rPr>
              <a:t>means</a:t>
            </a:r>
            <a:r>
              <a:rPr lang="en-US" sz="2400" dirty="0"/>
              <a:t> are different </a:t>
            </a:r>
          </a:p>
          <a:p>
            <a:pPr>
              <a:lnSpc>
                <a:spcPct val="90000"/>
              </a:lnSpc>
            </a:pPr>
            <a:r>
              <a:rPr lang="en-US" sz="2400" dirty="0"/>
              <a:t>Determining which specific means differ following an ANOVA is called the </a:t>
            </a:r>
            <a:r>
              <a:rPr lang="en-US" sz="2400" b="1" dirty="0">
                <a:solidFill>
                  <a:schemeClr val="accent2"/>
                </a:solidFill>
              </a:rPr>
              <a:t>multiple comparisons problem</a:t>
            </a:r>
          </a:p>
          <a:p>
            <a:pPr>
              <a:lnSpc>
                <a:spcPct val="90000"/>
              </a:lnSpc>
            </a:pPr>
            <a:r>
              <a:rPr lang="en-US" sz="2400" dirty="0"/>
              <a:t>There are </a:t>
            </a:r>
            <a:r>
              <a:rPr lang="en-US" sz="2400" b="1" dirty="0">
                <a:solidFill>
                  <a:schemeClr val="accent2"/>
                </a:solidFill>
              </a:rPr>
              <a:t>lots</a:t>
            </a:r>
            <a:r>
              <a:rPr lang="en-US" sz="2400" dirty="0"/>
              <a:t> of ways to do this…see text, Section 3.5, pg. </a:t>
            </a:r>
            <a:r>
              <a:rPr lang="en-US" sz="2400" dirty="0" smtClean="0"/>
              <a:t>86</a:t>
            </a:r>
            <a:endParaRPr lang="en-US" sz="2400" dirty="0"/>
          </a:p>
          <a:p>
            <a:pPr>
              <a:lnSpc>
                <a:spcPct val="90000"/>
              </a:lnSpc>
            </a:pPr>
            <a:r>
              <a:rPr lang="en-US" sz="2400" dirty="0"/>
              <a:t>We will use pairwise </a:t>
            </a:r>
            <a:r>
              <a:rPr lang="en-US" sz="2400" i="1" dirty="0"/>
              <a:t>t</a:t>
            </a:r>
            <a:r>
              <a:rPr lang="en-US" sz="2400" dirty="0"/>
              <a:t>-tests on means…sometimes called Fisher’s Least Significant Difference (or Fisher’s </a:t>
            </a:r>
            <a:r>
              <a:rPr lang="en-US" sz="2400" b="1" dirty="0">
                <a:solidFill>
                  <a:schemeClr val="accent2"/>
                </a:solidFill>
              </a:rPr>
              <a:t>LSD</a:t>
            </a:r>
            <a:r>
              <a:rPr lang="en-US" sz="2400" dirty="0"/>
              <a:t>) Method</a:t>
            </a:r>
          </a:p>
        </p:txBody>
      </p:sp>
    </p:spTree>
    <p:extLst>
      <p:ext uri="{BB962C8B-B14F-4D97-AF65-F5344CB8AC3E}">
        <p14:creationId xmlns:p14="http://schemas.microsoft.com/office/powerpoint/2010/main" val="127330790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a:xfrm>
            <a:off x="2209800" y="0"/>
            <a:ext cx="7772400" cy="914400"/>
          </a:xfrm>
        </p:spPr>
        <p:txBody>
          <a:bodyPr/>
          <a:lstStyle/>
          <a:p>
            <a:r>
              <a:rPr lang="en-US" sz="3600" b="1" dirty="0"/>
              <a:t>Design-Expert Output</a:t>
            </a:r>
          </a:p>
        </p:txBody>
      </p:sp>
      <p:pic>
        <p:nvPicPr>
          <p:cNvPr id="21507" name="Picture 3"/>
          <p:cNvPicPr>
            <a:picLocks noChangeAspect="1" noChangeArrowheads="1"/>
          </p:cNvPicPr>
          <p:nvPr/>
        </p:nvPicPr>
        <p:blipFill>
          <a:blip r:embed="rId2" cstate="print"/>
          <a:srcRect/>
          <a:stretch>
            <a:fillRect/>
          </a:stretch>
        </p:blipFill>
        <p:spPr bwMode="auto">
          <a:xfrm>
            <a:off x="2133600" y="1371600"/>
            <a:ext cx="7867869" cy="4276725"/>
          </a:xfrm>
          <a:prstGeom prst="rect">
            <a:avLst/>
          </a:prstGeom>
          <a:noFill/>
          <a:ln w="38100">
            <a:solidFill>
              <a:schemeClr val="accent2"/>
            </a:solidFill>
            <a:miter lim="800000"/>
            <a:headEnd/>
            <a:tailEnd/>
          </a:ln>
          <a:effectLst/>
        </p:spPr>
      </p:pic>
    </p:spTree>
    <p:extLst>
      <p:ext uri="{BB962C8B-B14F-4D97-AF65-F5344CB8AC3E}">
        <p14:creationId xmlns:p14="http://schemas.microsoft.com/office/powerpoint/2010/main" val="264503618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914400" y="0"/>
            <a:ext cx="10363200" cy="1371600"/>
          </a:xfrm>
        </p:spPr>
        <p:txBody>
          <a:bodyPr/>
          <a:lstStyle/>
          <a:p>
            <a:r>
              <a:rPr lang="en-US" sz="3600" b="1" dirty="0"/>
              <a:t>Graphical Comparison of Means</a:t>
            </a:r>
            <a:br>
              <a:rPr lang="en-US" sz="3600" b="1" dirty="0"/>
            </a:br>
            <a:r>
              <a:rPr lang="en-US" sz="3600" dirty="0"/>
              <a:t>Text, pg. </a:t>
            </a:r>
            <a:r>
              <a:rPr lang="en-US" sz="3600" dirty="0" smtClean="0"/>
              <a:t>89</a:t>
            </a:r>
            <a:endParaRPr lang="en-US" sz="3600" dirty="0"/>
          </a:p>
        </p:txBody>
      </p:sp>
      <p:pic>
        <p:nvPicPr>
          <p:cNvPr id="22533" name="Picture 5"/>
          <p:cNvPicPr>
            <a:picLocks noGrp="1" noChangeAspect="1" noChangeArrowheads="1"/>
          </p:cNvPicPr>
          <p:nvPr>
            <p:ph idx="1"/>
          </p:nvPr>
        </p:nvPicPr>
        <p:blipFill>
          <a:blip r:embed="rId2" cstate="print"/>
          <a:srcRect/>
          <a:stretch>
            <a:fillRect/>
          </a:stretch>
        </p:blipFill>
        <p:spPr>
          <a:xfrm>
            <a:off x="1981200" y="2209800"/>
            <a:ext cx="8229600" cy="2857500"/>
          </a:xfrm>
          <a:noFill/>
          <a:ln/>
        </p:spPr>
      </p:pic>
    </p:spTree>
    <p:extLst>
      <p:ext uri="{BB962C8B-B14F-4D97-AF65-F5344CB8AC3E}">
        <p14:creationId xmlns:p14="http://schemas.microsoft.com/office/powerpoint/2010/main" val="379188304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2209800" y="0"/>
            <a:ext cx="7772400" cy="914400"/>
          </a:xfrm>
        </p:spPr>
        <p:txBody>
          <a:bodyPr/>
          <a:lstStyle/>
          <a:p>
            <a:r>
              <a:rPr lang="en-US" sz="3600" b="1" dirty="0"/>
              <a:t>The Regression Model</a:t>
            </a:r>
          </a:p>
        </p:txBody>
      </p:sp>
      <p:pic>
        <p:nvPicPr>
          <p:cNvPr id="23556" name="Picture 4"/>
          <p:cNvPicPr>
            <a:picLocks noChangeAspect="1" noChangeArrowheads="1"/>
          </p:cNvPicPr>
          <p:nvPr/>
        </p:nvPicPr>
        <p:blipFill>
          <a:blip r:embed="rId2" cstate="print"/>
          <a:srcRect/>
          <a:stretch>
            <a:fillRect/>
          </a:stretch>
        </p:blipFill>
        <p:spPr bwMode="auto">
          <a:xfrm>
            <a:off x="3657600" y="1447800"/>
            <a:ext cx="2095500" cy="342900"/>
          </a:xfrm>
          <a:prstGeom prst="rect">
            <a:avLst/>
          </a:prstGeom>
          <a:noFill/>
          <a:ln w="9525">
            <a:noFill/>
            <a:miter lim="800000"/>
            <a:headEnd/>
            <a:tailEnd/>
          </a:ln>
          <a:effectLst/>
        </p:spPr>
      </p:pic>
      <p:pic>
        <p:nvPicPr>
          <p:cNvPr id="23557" name="Picture 5"/>
          <p:cNvPicPr>
            <a:picLocks noChangeAspect="1" noChangeArrowheads="1"/>
          </p:cNvPicPr>
          <p:nvPr/>
        </p:nvPicPr>
        <p:blipFill>
          <a:blip r:embed="rId3" cstate="print"/>
          <a:srcRect/>
          <a:stretch>
            <a:fillRect/>
          </a:stretch>
        </p:blipFill>
        <p:spPr bwMode="auto">
          <a:xfrm>
            <a:off x="6248400" y="1390650"/>
            <a:ext cx="3924300" cy="361950"/>
          </a:xfrm>
          <a:prstGeom prst="rect">
            <a:avLst/>
          </a:prstGeom>
          <a:noFill/>
          <a:ln w="9525">
            <a:noFill/>
            <a:miter lim="800000"/>
            <a:headEnd/>
            <a:tailEnd/>
          </a:ln>
          <a:effectLst/>
        </p:spPr>
      </p:pic>
      <p:pic>
        <p:nvPicPr>
          <p:cNvPr id="23558" name="Picture 6"/>
          <p:cNvPicPr>
            <a:picLocks noChangeAspect="1" noChangeArrowheads="1"/>
          </p:cNvPicPr>
          <p:nvPr/>
        </p:nvPicPr>
        <p:blipFill>
          <a:blip r:embed="rId4" cstate="print"/>
          <a:srcRect/>
          <a:stretch>
            <a:fillRect/>
          </a:stretch>
        </p:blipFill>
        <p:spPr bwMode="auto">
          <a:xfrm>
            <a:off x="2667000" y="1981200"/>
            <a:ext cx="7086600" cy="4184650"/>
          </a:xfrm>
          <a:prstGeom prst="rect">
            <a:avLst/>
          </a:prstGeom>
          <a:noFill/>
          <a:ln w="9525">
            <a:noFill/>
            <a:miter lim="800000"/>
            <a:headEnd/>
            <a:tailEnd/>
          </a:ln>
          <a:effectLst/>
        </p:spPr>
      </p:pic>
    </p:spTree>
    <p:extLst>
      <p:ext uri="{BB962C8B-B14F-4D97-AF65-F5344CB8AC3E}">
        <p14:creationId xmlns:p14="http://schemas.microsoft.com/office/powerpoint/2010/main" val="3249270324"/>
      </p:ext>
    </p:extLst>
  </p:cSld>
  <p:clrMapOvr>
    <a:masterClrMapping/>
  </p:clrMapOvr>
  <p:timing>
    <p:tnLst>
      <p:par>
        <p:cTn id="1" dur="indefinite" restart="never" nodeType="tmRoot"/>
      </p:par>
    </p:tnLst>
  </p:timing>
</p:sld>
</file>

<file path=ppt/theme/theme1.xml><?xml version="1.0" encoding="utf-8"?>
<a:theme xmlns:a="http://schemas.openxmlformats.org/drawingml/2006/main" name="Default Design">
  <a:themeElements>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fontScheme name="Default Design">
      <a:majorFont>
        <a:latin typeface="Times New Roman"/>
        <a:ea typeface=""/>
        <a:cs typeface=""/>
      </a:majorFont>
      <a:minorFont>
        <a:latin typeface="Times New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Default Design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Default Design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556</TotalTime>
  <Words>793</Words>
  <Application>Microsoft Office PowerPoint</Application>
  <PresentationFormat>Widescreen</PresentationFormat>
  <Paragraphs>88</Paragraphs>
  <Slides>23</Slides>
  <Notes>0</Notes>
  <HiddenSlides>0</HiddenSlides>
  <MMClips>0</MMClips>
  <ScaleCrop>false</ScaleCrop>
  <HeadingPairs>
    <vt:vector size="8" baseType="variant">
      <vt:variant>
        <vt:lpstr>Fonts Used</vt:lpstr>
      </vt:variant>
      <vt:variant>
        <vt:i4>1</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6" baseType="lpstr">
      <vt:lpstr>Times New Roman</vt:lpstr>
      <vt:lpstr>Default Design</vt:lpstr>
      <vt:lpstr>Equation</vt:lpstr>
      <vt:lpstr>Experimental Design For Engineers </vt:lpstr>
      <vt:lpstr>What If There Are More Than Two Factor Levels?</vt:lpstr>
      <vt:lpstr>An Example (See pg. 65)</vt:lpstr>
      <vt:lpstr>PowerPoint Presentation</vt:lpstr>
      <vt:lpstr>An Example (See pg. 67)</vt:lpstr>
      <vt:lpstr>PowerPoint Presentation</vt:lpstr>
      <vt:lpstr>The Analysis of Variance (Sec. 3.2, pg. 67)</vt:lpstr>
      <vt:lpstr>The Analysis of Variance</vt:lpstr>
      <vt:lpstr>Models for the Data</vt:lpstr>
      <vt:lpstr>The Analysis of Variance</vt:lpstr>
      <vt:lpstr>The Analysis of Variance</vt:lpstr>
      <vt:lpstr>The Analysis of Variance</vt:lpstr>
      <vt:lpstr>The Analysis of Variance  is Summarized in a Table</vt:lpstr>
      <vt:lpstr>ANOVA Table Example 3-1</vt:lpstr>
      <vt:lpstr>PowerPoint Presentation</vt:lpstr>
      <vt:lpstr>ANOVA calculations are usually done via computer</vt:lpstr>
      <vt:lpstr>Model Adequacy Checking in the ANOVA Text reference, Section 3.4, pg. 78</vt:lpstr>
      <vt:lpstr>Model Adequacy Checking in the ANOVA</vt:lpstr>
      <vt:lpstr>Other Important Residual Plots</vt:lpstr>
      <vt:lpstr>Post-ANOVA Comparison of Means</vt:lpstr>
      <vt:lpstr>Design-Expert Output</vt:lpstr>
      <vt:lpstr>Graphical Comparison of Means Text, pg. 89</vt:lpstr>
      <vt:lpstr>The Regression Model</vt:lpstr>
    </vt:vector>
  </TitlesOfParts>
  <Company>NIU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 Exp Des For Eng</dc:title>
  <dc:creator>R. Moraga</dc:creator>
  <cp:lastModifiedBy>Reinaldo Moraga</cp:lastModifiedBy>
  <cp:revision>41</cp:revision>
  <dcterms:created xsi:type="dcterms:W3CDTF">2002-08-16T01:39:43Z</dcterms:created>
  <dcterms:modified xsi:type="dcterms:W3CDTF">2025-02-03T03:42:14Z</dcterms:modified>
</cp:coreProperties>
</file>