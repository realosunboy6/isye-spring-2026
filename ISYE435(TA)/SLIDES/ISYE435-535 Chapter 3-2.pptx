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384" r:id="rId3"/>
    <p:sldId id="385" r:id="rId4"/>
    <p:sldId id="386" r:id="rId5"/>
    <p:sldId id="387" r:id="rId6"/>
    <p:sldId id="388" r:id="rId7"/>
    <p:sldId id="389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CC"/>
    <a:srgbClr val="808000"/>
    <a:srgbClr val="FF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4" autoAdjust="0"/>
    <p:restoredTop sz="94679" autoAdjust="0"/>
  </p:normalViewPr>
  <p:slideViewPr>
    <p:cSldViewPr>
      <p:cViewPr varScale="1">
        <p:scale>
          <a:sx n="75" d="100"/>
          <a:sy n="75" d="100"/>
        </p:scale>
        <p:origin x="994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aldo Moraga" userId="35d23698-1602-4507-8826-c8cfcda9e348" providerId="ADAL" clId="{D3CDB21E-0A6E-4509-AD3D-3C76DD42F41C}"/>
    <pc:docChg chg="undo custSel modSld">
      <pc:chgData name="Reinaldo Moraga" userId="35d23698-1602-4507-8826-c8cfcda9e348" providerId="ADAL" clId="{D3CDB21E-0A6E-4509-AD3D-3C76DD42F41C}" dt="2026-02-11T06:11:06.509" v="6" actId="11529"/>
      <pc:docMkLst>
        <pc:docMk/>
      </pc:docMkLst>
      <pc:sldChg chg="addSp delSp modSp mod">
        <pc:chgData name="Reinaldo Moraga" userId="35d23698-1602-4507-8826-c8cfcda9e348" providerId="ADAL" clId="{D3CDB21E-0A6E-4509-AD3D-3C76DD42F41C}" dt="2026-02-11T06:11:06.509" v="6" actId="11529"/>
        <pc:sldMkLst>
          <pc:docMk/>
          <pc:sldMk cId="1029166638" sldId="384"/>
        </pc:sldMkLst>
        <pc:spChg chg="add del ord">
          <ac:chgData name="Reinaldo Moraga" userId="35d23698-1602-4507-8826-c8cfcda9e348" providerId="ADAL" clId="{D3CDB21E-0A6E-4509-AD3D-3C76DD42F41C}" dt="2026-02-11T06:11:06.509" v="6" actId="11529"/>
          <ac:spMkLst>
            <pc:docMk/>
            <pc:sldMk cId="1029166638" sldId="384"/>
            <ac:spMk id="2" creationId="{BFA3803B-225C-65E8-D802-2008B179FF95}"/>
          </ac:spMkLst>
        </pc:spChg>
        <pc:picChg chg="add del mod">
          <ac:chgData name="Reinaldo Moraga" userId="35d23698-1602-4507-8826-c8cfcda9e348" providerId="ADAL" clId="{D3CDB21E-0A6E-4509-AD3D-3C76DD42F41C}" dt="2026-02-11T06:11:04.847" v="4" actId="478"/>
          <ac:picMkLst>
            <pc:docMk/>
            <pc:sldMk cId="1029166638" sldId="384"/>
            <ac:picMk id="14442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DF50915-C1A7-4D31-8C2B-4DE32F76A2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04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8445E-7302-47AB-8F29-D67BD367AFC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95" y="5201093"/>
            <a:ext cx="538627" cy="9394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D6D3B1-6875-4457-8B50-86F3518BEB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9A1F6-5E7F-4705-8C94-B9C704C7DC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71D19-ED00-48C1-A6B0-1C04DC1A17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DF9C9-C7EE-4706-8944-8389476B91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8AD0F-F9B0-4CCF-81F1-FF7910D9ED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3C2E0-64E9-4821-ACC1-ADA5A13137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29B97F-2D42-42F1-921D-96AE01F952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F057BA-2D4C-44CF-862F-8AB860D1B4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422826-8F07-4C46-90B7-7F5CCA77D4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DCD23-6B2D-466C-ABEA-3CB995ADD8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77EB0510-B5E9-48BD-9046-EF94B22E2C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183C23-DD81-4E15-BFBA-2990194C5CA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B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67000" y="990600"/>
            <a:ext cx="7315200" cy="2590800"/>
          </a:xfrm>
        </p:spPr>
        <p:txBody>
          <a:bodyPr/>
          <a:lstStyle/>
          <a:p>
            <a:r>
              <a:rPr lang="en-US" sz="5400" b="1" dirty="0"/>
              <a:t>Experimental Design For Engineers</a:t>
            </a:r>
            <a:r>
              <a:rPr lang="en-US" dirty="0"/>
              <a:t> 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US" sz="3600" b="1" dirty="0"/>
              <a:t>ISYE435-535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Bowler selection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772400" cy="41148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/>
              <a:t>Three bowlers must compete for the last position on the team. They each bowl six games (see data below). </a:t>
            </a:r>
          </a:p>
          <a:p>
            <a:pPr>
              <a:spcBef>
                <a:spcPts val="1200"/>
              </a:spcBef>
              <a:spcAft>
                <a:spcPts val="600"/>
              </a:spcAft>
              <a:buNone/>
            </a:pPr>
            <a:endParaRPr lang="en-US"/>
          </a:p>
        </p:txBody>
      </p:sp>
      <p:pic>
        <p:nvPicPr>
          <p:cNvPr id="144420" name="Picture 3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423920"/>
            <a:ext cx="7010400" cy="301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2916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Bowler selection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/>
              <a:t>The captain knows better than just to simply pick the bowler with the highest score. Maybe it’s a fluke that Mark scored highest and Pat’s score is low. He wants to know if the scores are significantly different, given the variability in individual scores. </a:t>
            </a:r>
          </a:p>
        </p:txBody>
      </p:sp>
    </p:spTree>
    <p:extLst>
      <p:ext uri="{BB962C8B-B14F-4D97-AF65-F5344CB8AC3E}">
        <p14:creationId xmlns:p14="http://schemas.microsoft.com/office/powerpoint/2010/main" val="205620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sz="3600" b="1" dirty="0"/>
              <a:t>Sample Size Determination</a:t>
            </a:r>
            <a:br>
              <a:rPr lang="en-US" sz="3600" b="1" dirty="0"/>
            </a:br>
            <a:r>
              <a:rPr lang="en-US" sz="3600" b="1" dirty="0"/>
              <a:t>Text, Section 3.7, pg. 103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</a:rPr>
              <a:t>FAQ</a:t>
            </a:r>
            <a:r>
              <a:rPr lang="en-US" sz="2800" dirty="0"/>
              <a:t> in designed experiments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Answer depends on lots of things; including what type of experiment is being contemplated, how it will be conducted, resources, and desired </a:t>
            </a:r>
            <a:r>
              <a:rPr lang="en-US" sz="2800" b="1" dirty="0">
                <a:solidFill>
                  <a:schemeClr val="accent2"/>
                </a:solidFill>
              </a:rPr>
              <a:t>sensitivity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Sensitivity refers to the </a:t>
            </a:r>
            <a:r>
              <a:rPr lang="en-US" sz="2800" b="1" dirty="0">
                <a:solidFill>
                  <a:schemeClr val="accent2"/>
                </a:solidFill>
              </a:rPr>
              <a:t>difference in means</a:t>
            </a:r>
            <a:r>
              <a:rPr lang="en-US" sz="2800" dirty="0"/>
              <a:t> that the experimenter wishes to detect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Generally, </a:t>
            </a:r>
            <a:r>
              <a:rPr lang="en-US" sz="2800" b="1" dirty="0">
                <a:solidFill>
                  <a:schemeClr val="accent2"/>
                </a:solidFill>
              </a:rPr>
              <a:t>increasing</a:t>
            </a:r>
            <a:r>
              <a:rPr lang="en-US" sz="2800" dirty="0"/>
              <a:t> the number of </a:t>
            </a:r>
            <a:r>
              <a:rPr lang="en-US" sz="2800" b="1" dirty="0">
                <a:solidFill>
                  <a:schemeClr val="accent2"/>
                </a:solidFill>
              </a:rPr>
              <a:t>replications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2"/>
                </a:solidFill>
              </a:rPr>
              <a:t>increases</a:t>
            </a:r>
            <a:r>
              <a:rPr lang="en-US" sz="2800" dirty="0"/>
              <a:t> the </a:t>
            </a:r>
            <a:r>
              <a:rPr lang="en-US" sz="2800" b="1" dirty="0">
                <a:solidFill>
                  <a:schemeClr val="accent2"/>
                </a:solidFill>
              </a:rPr>
              <a:t>sensitivity</a:t>
            </a:r>
            <a:r>
              <a:rPr lang="en-US" sz="2800" dirty="0"/>
              <a:t> or it makes it easier to detect small differences in means</a:t>
            </a:r>
          </a:p>
        </p:txBody>
      </p:sp>
    </p:spTree>
    <p:extLst>
      <p:ext uri="{BB962C8B-B14F-4D97-AF65-F5344CB8AC3E}">
        <p14:creationId xmlns:p14="http://schemas.microsoft.com/office/powerpoint/2010/main" val="3050355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sz="3200" b="1"/>
              <a:t>Sample Size Determination</a:t>
            </a:r>
            <a:br>
              <a:rPr lang="en-US" sz="3200" b="1"/>
            </a:br>
            <a:r>
              <a:rPr lang="en-US" sz="3200" b="1"/>
              <a:t>Fixed Effects Case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8001000" cy="4114800"/>
          </a:xfrm>
        </p:spPr>
        <p:txBody>
          <a:bodyPr/>
          <a:lstStyle/>
          <a:p>
            <a:r>
              <a:rPr lang="en-US" sz="2400"/>
              <a:t>Can choose the sample size to detect a specific difference in means and achieve desired values of </a:t>
            </a:r>
            <a:r>
              <a:rPr lang="en-US" sz="2400" b="1">
                <a:solidFill>
                  <a:schemeClr val="accent2"/>
                </a:solidFill>
              </a:rPr>
              <a:t>type I and type II errors</a:t>
            </a:r>
          </a:p>
          <a:p>
            <a:r>
              <a:rPr lang="en-US" sz="2400"/>
              <a:t>Type I error – reject </a:t>
            </a:r>
            <a:r>
              <a:rPr lang="en-US" sz="2400" i="1"/>
              <a:t>H</a:t>
            </a:r>
            <a:r>
              <a:rPr lang="en-US" sz="2400" baseline="-25000"/>
              <a:t>0</a:t>
            </a:r>
            <a:r>
              <a:rPr lang="en-US" sz="2400"/>
              <a:t> when it is true (    )</a:t>
            </a:r>
          </a:p>
          <a:p>
            <a:r>
              <a:rPr lang="en-US" sz="2400"/>
              <a:t>Type II error – fail to reject </a:t>
            </a:r>
            <a:r>
              <a:rPr lang="en-US" sz="2400" i="1"/>
              <a:t>H</a:t>
            </a:r>
            <a:r>
              <a:rPr lang="en-US" sz="2400" baseline="-25000"/>
              <a:t>0</a:t>
            </a:r>
            <a:r>
              <a:rPr lang="en-US" sz="2400"/>
              <a:t> when it is false (     )</a:t>
            </a:r>
          </a:p>
          <a:p>
            <a:r>
              <a:rPr lang="en-US" sz="2400" b="1">
                <a:solidFill>
                  <a:schemeClr val="accent2"/>
                </a:solidFill>
              </a:rPr>
              <a:t>Power</a:t>
            </a:r>
            <a:r>
              <a:rPr lang="en-US" sz="2400"/>
              <a:t> = 1 - </a:t>
            </a:r>
          </a:p>
          <a:p>
            <a:r>
              <a:rPr lang="en-US" sz="2400" b="1">
                <a:solidFill>
                  <a:schemeClr val="accent2"/>
                </a:solidFill>
              </a:rPr>
              <a:t>Operating characteristic curves</a:t>
            </a:r>
            <a:r>
              <a:rPr lang="en-US" sz="2400"/>
              <a:t> plot     against a parameter        where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018005"/>
              </p:ext>
            </p:extLst>
          </p:nvPr>
        </p:nvGraphicFramePr>
        <p:xfrm>
          <a:off x="7467600" y="2950633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39680" progId="">
                  <p:embed/>
                </p:oleObj>
              </mc:Choice>
              <mc:Fallback>
                <p:oleObj name="Equation" r:id="rId2" imgW="139680" imgH="139680" progId="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950633"/>
                        <a:ext cx="381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668612"/>
              </p:ext>
            </p:extLst>
          </p:nvPr>
        </p:nvGraphicFramePr>
        <p:xfrm>
          <a:off x="8512968" y="3331633"/>
          <a:ext cx="3444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03040" progId="">
                  <p:embed/>
                </p:oleObj>
              </mc:Choice>
              <mc:Fallback>
                <p:oleObj name="Equation" r:id="rId4" imgW="152280" imgH="203040" progId="">
                  <p:embed/>
                  <p:pic>
                    <p:nvPicPr>
                      <p:cNvPr id="26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2968" y="3331633"/>
                        <a:ext cx="344488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425040"/>
              </p:ext>
            </p:extLst>
          </p:nvPr>
        </p:nvGraphicFramePr>
        <p:xfrm>
          <a:off x="7313612" y="4221427"/>
          <a:ext cx="3444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03040" progId="">
                  <p:embed/>
                </p:oleObj>
              </mc:Choice>
              <mc:Fallback>
                <p:oleObj name="Equation" r:id="rId4" imgW="152280" imgH="203040" progId="">
                  <p:embed/>
                  <p:pic>
                    <p:nvPicPr>
                      <p:cNvPr id="26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3612" y="4221427"/>
                        <a:ext cx="344488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530463"/>
              </p:ext>
            </p:extLst>
          </p:nvPr>
        </p:nvGraphicFramePr>
        <p:xfrm>
          <a:off x="3572405" y="4572000"/>
          <a:ext cx="3810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52280" progId="">
                  <p:embed/>
                </p:oleObj>
              </mc:Choice>
              <mc:Fallback>
                <p:oleObj name="Equation" r:id="rId6" imgW="164880" imgH="152280" progId="">
                  <p:embed/>
                  <p:pic>
                    <p:nvPicPr>
                      <p:cNvPr id="266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2405" y="4572000"/>
                        <a:ext cx="381000" cy="35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5562600" y="4876800"/>
          <a:ext cx="1524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609480" progId="">
                  <p:embed/>
                </p:oleObj>
              </mc:Choice>
              <mc:Fallback>
                <p:oleObj name="Equation" r:id="rId8" imgW="812520" imgH="609480" progId="">
                  <p:embed/>
                  <p:pic>
                    <p:nvPicPr>
                      <p:cNvPr id="266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876800"/>
                        <a:ext cx="15240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085471"/>
              </p:ext>
            </p:extLst>
          </p:nvPr>
        </p:nvGraphicFramePr>
        <p:xfrm>
          <a:off x="4191000" y="3762639"/>
          <a:ext cx="3444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80" imgH="203040" progId="">
                  <p:embed/>
                </p:oleObj>
              </mc:Choice>
              <mc:Fallback>
                <p:oleObj name="Equation" r:id="rId10" imgW="152280" imgH="203040" progId="">
                  <p:embed/>
                  <p:pic>
                    <p:nvPicPr>
                      <p:cNvPr id="266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762639"/>
                        <a:ext cx="344488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564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sz="3200" b="1"/>
              <a:t>Sample Size Determination</a:t>
            </a:r>
            <a:br>
              <a:rPr lang="en-US" sz="3200" b="1"/>
            </a:br>
            <a:r>
              <a:rPr lang="en-US" sz="3200" b="1"/>
              <a:t>Fixed Effects Case---use of OC Curves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7772400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200" dirty="0"/>
              <a:t>The </a:t>
            </a:r>
            <a:r>
              <a:rPr lang="en-US" sz="2200" b="1" dirty="0">
                <a:solidFill>
                  <a:schemeClr val="accent2"/>
                </a:solidFill>
              </a:rPr>
              <a:t>OC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b="1" dirty="0">
                <a:solidFill>
                  <a:schemeClr val="accent2"/>
                </a:solidFill>
              </a:rPr>
              <a:t>curves</a:t>
            </a:r>
            <a:r>
              <a:rPr lang="en-US" sz="2200" dirty="0"/>
              <a:t> for the fixed effects model are in the Appendix, Table V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A very common way to use these charts is to define a difference in two means </a:t>
            </a:r>
            <a:r>
              <a:rPr lang="en-US" sz="2200" i="1" dirty="0"/>
              <a:t>D</a:t>
            </a:r>
            <a:r>
              <a:rPr lang="en-US" sz="2200" dirty="0"/>
              <a:t> of interest, then the minimum value of      is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200" dirty="0"/>
          </a:p>
          <a:p>
            <a:pPr>
              <a:lnSpc>
                <a:spcPct val="80000"/>
              </a:lnSpc>
            </a:pPr>
            <a:endParaRPr lang="en-US" sz="2200" dirty="0"/>
          </a:p>
          <a:p>
            <a:pPr>
              <a:lnSpc>
                <a:spcPct val="80000"/>
              </a:lnSpc>
            </a:pPr>
            <a:endParaRPr lang="en-US" sz="2200" dirty="0"/>
          </a:p>
          <a:p>
            <a:pPr>
              <a:lnSpc>
                <a:spcPct val="80000"/>
              </a:lnSpc>
            </a:pPr>
            <a:endParaRPr lang="en-US" sz="2200" dirty="0"/>
          </a:p>
          <a:p>
            <a:pPr>
              <a:lnSpc>
                <a:spcPct val="80000"/>
              </a:lnSpc>
            </a:pPr>
            <a:r>
              <a:rPr lang="en-US" sz="2200" dirty="0"/>
              <a:t>Typically work in term of the ratio of            and try values of </a:t>
            </a:r>
            <a:r>
              <a:rPr lang="en-US" sz="2200" i="1" dirty="0"/>
              <a:t>n </a:t>
            </a:r>
            <a:r>
              <a:rPr lang="en-US" sz="2200" dirty="0"/>
              <a:t>until the </a:t>
            </a:r>
            <a:r>
              <a:rPr lang="en-US" sz="2200" b="1" dirty="0">
                <a:solidFill>
                  <a:schemeClr val="accent2"/>
                </a:solidFill>
              </a:rPr>
              <a:t>desired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b="1" dirty="0">
                <a:solidFill>
                  <a:schemeClr val="accent2"/>
                </a:solidFill>
              </a:rPr>
              <a:t>power</a:t>
            </a:r>
            <a:r>
              <a:rPr lang="en-US" sz="2200" dirty="0"/>
              <a:t> is achieved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Most statistics software packages will perform power and sample size calculations – see pages 103-104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There are some other methods discussed in the text</a:t>
            </a: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266998"/>
              </p:ext>
            </p:extLst>
          </p:nvPr>
        </p:nvGraphicFramePr>
        <p:xfrm>
          <a:off x="8839200" y="2286000"/>
          <a:ext cx="3810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190440" progId="">
                  <p:embed/>
                </p:oleObj>
              </mc:Choice>
              <mc:Fallback>
                <p:oleObj name="Equation" r:id="rId2" imgW="215640" imgH="190440" progId="">
                  <p:embed/>
                  <p:pic>
                    <p:nvPicPr>
                      <p:cNvPr id="27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2286000"/>
                        <a:ext cx="3810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5105400" y="2743200"/>
          <a:ext cx="15240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419040" progId="">
                  <p:embed/>
                </p:oleObj>
              </mc:Choice>
              <mc:Fallback>
                <p:oleObj name="Equation" r:id="rId4" imgW="736560" imgH="419040" progId="">
                  <p:embed/>
                  <p:pic>
                    <p:nvPicPr>
                      <p:cNvPr id="276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743200"/>
                        <a:ext cx="1524000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200022"/>
              </p:ext>
            </p:extLst>
          </p:nvPr>
        </p:nvGraphicFramePr>
        <p:xfrm>
          <a:off x="6934200" y="3962400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320" imgH="177480" progId="">
                  <p:embed/>
                </p:oleObj>
              </mc:Choice>
              <mc:Fallback>
                <p:oleObj name="Equation" r:id="rId6" imgW="355320" imgH="177480" progId="">
                  <p:embed/>
                  <p:pic>
                    <p:nvPicPr>
                      <p:cNvPr id="27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962400"/>
                        <a:ext cx="685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23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2743200" y="457201"/>
            <a:ext cx="6781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/>
              <a:t>Power and sample size calculations from Minitab (Page 103)</a:t>
            </a: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8414" y="933451"/>
            <a:ext cx="7367587" cy="512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6628053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337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Times New Roman</vt:lpstr>
      <vt:lpstr>Default Design</vt:lpstr>
      <vt:lpstr>Equation</vt:lpstr>
      <vt:lpstr>Experimental Design For Engineers </vt:lpstr>
      <vt:lpstr>Example 2: Bowler selection</vt:lpstr>
      <vt:lpstr>Example 2: Bowler selection</vt:lpstr>
      <vt:lpstr>Sample Size Determination Text, Section 3.7, pg. 103</vt:lpstr>
      <vt:lpstr>Sample Size Determination Fixed Effects Case</vt:lpstr>
      <vt:lpstr>Sample Size Determination Fixed Effects Case---use of OC Curves</vt:lpstr>
      <vt:lpstr>PowerPoint Presentation</vt:lpstr>
    </vt:vector>
  </TitlesOfParts>
  <Company>NIU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 Exp Des For Eng</dc:title>
  <dc:creator>R. Moraga</dc:creator>
  <cp:lastModifiedBy>Reinaldo Moraga</cp:lastModifiedBy>
  <cp:revision>43</cp:revision>
  <dcterms:created xsi:type="dcterms:W3CDTF">2002-08-16T01:39:43Z</dcterms:created>
  <dcterms:modified xsi:type="dcterms:W3CDTF">2026-02-11T06:11:13Z</dcterms:modified>
</cp:coreProperties>
</file>